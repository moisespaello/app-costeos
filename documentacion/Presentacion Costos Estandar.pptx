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92" r:id="rId4"/>
    <p:sldId id="258" r:id="rId5"/>
    <p:sldId id="259" r:id="rId6"/>
    <p:sldId id="260" r:id="rId7"/>
    <p:sldId id="261" r:id="rId8"/>
    <p:sldId id="262" r:id="rId9"/>
    <p:sldId id="263" r:id="rId10"/>
    <p:sldId id="264" r:id="rId11"/>
    <p:sldId id="290" r:id="rId12"/>
    <p:sldId id="291" r:id="rId13"/>
    <p:sldId id="265" r:id="rId14"/>
    <p:sldId id="266" r:id="rId15"/>
    <p:sldId id="267" r:id="rId16"/>
    <p:sldId id="268" r:id="rId17"/>
    <p:sldId id="269" r:id="rId18"/>
    <p:sldId id="270" r:id="rId19"/>
    <p:sldId id="271" r:id="rId20"/>
    <p:sldId id="272" r:id="rId21"/>
    <p:sldId id="273" r:id="rId22"/>
    <p:sldId id="274" r:id="rId23"/>
    <p:sldId id="275" r:id="rId24"/>
    <p:sldId id="293" r:id="rId25"/>
    <p:sldId id="294" r:id="rId26"/>
    <p:sldId id="276" r:id="rId27"/>
    <p:sldId id="277" r:id="rId28"/>
    <p:sldId id="278" r:id="rId29"/>
    <p:sldId id="295" r:id="rId30"/>
    <p:sldId id="279" r:id="rId31"/>
    <p:sldId id="280" r:id="rId32"/>
    <p:sldId id="298" r:id="rId33"/>
    <p:sldId id="281" r:id="rId34"/>
    <p:sldId id="299" r:id="rId35"/>
    <p:sldId id="282" r:id="rId36"/>
    <p:sldId id="283" r:id="rId37"/>
    <p:sldId id="284" r:id="rId38"/>
    <p:sldId id="296" r:id="rId39"/>
    <p:sldId id="285" r:id="rId40"/>
    <p:sldId id="286" r:id="rId41"/>
    <p:sldId id="287" r:id="rId42"/>
    <p:sldId id="288" r:id="rId43"/>
    <p:sldId id="28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7" d="100"/>
          <a:sy n="57" d="100"/>
        </p:scale>
        <p:origin x="94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6B931B-EB26-CBB9-9EB0-D9C994DA462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5EE0F83B-F13B-6A49-2DE2-9084438153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058F1BEB-41C7-4982-2F7A-CAFC095CA01E}"/>
              </a:ext>
            </a:extLst>
          </p:cNvPr>
          <p:cNvSpPr>
            <a:spLocks noGrp="1"/>
          </p:cNvSpPr>
          <p:nvPr>
            <p:ph type="dt" sz="half" idx="10"/>
          </p:nvPr>
        </p:nvSpPr>
        <p:spPr/>
        <p:txBody>
          <a:bodyPr/>
          <a:lstStyle/>
          <a:p>
            <a:fld id="{8321242E-FB9A-4045-9293-E7D9DDC6327D}" type="datetimeFigureOut">
              <a:rPr lang="es-MX" smtClean="0"/>
              <a:t>06/11/2025</a:t>
            </a:fld>
            <a:endParaRPr lang="es-MX"/>
          </a:p>
        </p:txBody>
      </p:sp>
      <p:sp>
        <p:nvSpPr>
          <p:cNvPr id="5" name="Marcador de pie de página 4">
            <a:extLst>
              <a:ext uri="{FF2B5EF4-FFF2-40B4-BE49-F238E27FC236}">
                <a16:creationId xmlns:a16="http://schemas.microsoft.com/office/drawing/2014/main" id="{AC21200B-3484-7E02-89B7-ADE0133B51B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EA4EF04-730C-CC6E-1CCB-B2F55A3CEB93}"/>
              </a:ext>
            </a:extLst>
          </p:cNvPr>
          <p:cNvSpPr>
            <a:spLocks noGrp="1"/>
          </p:cNvSpPr>
          <p:nvPr>
            <p:ph type="sldNum" sz="quarter" idx="12"/>
          </p:nvPr>
        </p:nvSpPr>
        <p:spPr/>
        <p:txBody>
          <a:bodyPr/>
          <a:lstStyle/>
          <a:p>
            <a:fld id="{AD01C915-39EE-4B38-8B1F-44559FFB4697}" type="slidenum">
              <a:rPr lang="es-MX" smtClean="0"/>
              <a:t>‹Nº›</a:t>
            </a:fld>
            <a:endParaRPr lang="es-MX"/>
          </a:p>
        </p:txBody>
      </p:sp>
    </p:spTree>
    <p:extLst>
      <p:ext uri="{BB962C8B-B14F-4D97-AF65-F5344CB8AC3E}">
        <p14:creationId xmlns:p14="http://schemas.microsoft.com/office/powerpoint/2010/main" val="463668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26DED6-7AB3-48FC-4611-CC2F693AD8A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10536F9-946D-97FB-EDE9-61D80D0133E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E83D210-249A-B648-3A5D-225B9ACE2F4C}"/>
              </a:ext>
            </a:extLst>
          </p:cNvPr>
          <p:cNvSpPr>
            <a:spLocks noGrp="1"/>
          </p:cNvSpPr>
          <p:nvPr>
            <p:ph type="dt" sz="half" idx="10"/>
          </p:nvPr>
        </p:nvSpPr>
        <p:spPr/>
        <p:txBody>
          <a:bodyPr/>
          <a:lstStyle/>
          <a:p>
            <a:fld id="{8321242E-FB9A-4045-9293-E7D9DDC6327D}" type="datetimeFigureOut">
              <a:rPr lang="es-MX" smtClean="0"/>
              <a:t>06/11/2025</a:t>
            </a:fld>
            <a:endParaRPr lang="es-MX"/>
          </a:p>
        </p:txBody>
      </p:sp>
      <p:sp>
        <p:nvSpPr>
          <p:cNvPr id="5" name="Marcador de pie de página 4">
            <a:extLst>
              <a:ext uri="{FF2B5EF4-FFF2-40B4-BE49-F238E27FC236}">
                <a16:creationId xmlns:a16="http://schemas.microsoft.com/office/drawing/2014/main" id="{1A1035DE-9793-B216-0413-39A9CC8C1CC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B1451A7-FF82-A386-FB9A-A3F1A635D36C}"/>
              </a:ext>
            </a:extLst>
          </p:cNvPr>
          <p:cNvSpPr>
            <a:spLocks noGrp="1"/>
          </p:cNvSpPr>
          <p:nvPr>
            <p:ph type="sldNum" sz="quarter" idx="12"/>
          </p:nvPr>
        </p:nvSpPr>
        <p:spPr/>
        <p:txBody>
          <a:bodyPr/>
          <a:lstStyle/>
          <a:p>
            <a:fld id="{AD01C915-39EE-4B38-8B1F-44559FFB4697}" type="slidenum">
              <a:rPr lang="es-MX" smtClean="0"/>
              <a:t>‹Nº›</a:t>
            </a:fld>
            <a:endParaRPr lang="es-MX"/>
          </a:p>
        </p:txBody>
      </p:sp>
    </p:spTree>
    <p:extLst>
      <p:ext uri="{BB962C8B-B14F-4D97-AF65-F5344CB8AC3E}">
        <p14:creationId xmlns:p14="http://schemas.microsoft.com/office/powerpoint/2010/main" val="3467651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43DC34-2160-2329-F37C-2601EF0909A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07C31D5-5A7C-A0B9-5CE7-8A7CCE4DB1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EC46412-04A9-6592-C9FF-B9151F8ADE08}"/>
              </a:ext>
            </a:extLst>
          </p:cNvPr>
          <p:cNvSpPr>
            <a:spLocks noGrp="1"/>
          </p:cNvSpPr>
          <p:nvPr>
            <p:ph type="dt" sz="half" idx="10"/>
          </p:nvPr>
        </p:nvSpPr>
        <p:spPr/>
        <p:txBody>
          <a:bodyPr/>
          <a:lstStyle/>
          <a:p>
            <a:fld id="{8321242E-FB9A-4045-9293-E7D9DDC6327D}" type="datetimeFigureOut">
              <a:rPr lang="es-MX" smtClean="0"/>
              <a:t>06/11/2025</a:t>
            </a:fld>
            <a:endParaRPr lang="es-MX"/>
          </a:p>
        </p:txBody>
      </p:sp>
      <p:sp>
        <p:nvSpPr>
          <p:cNvPr id="5" name="Marcador de pie de página 4">
            <a:extLst>
              <a:ext uri="{FF2B5EF4-FFF2-40B4-BE49-F238E27FC236}">
                <a16:creationId xmlns:a16="http://schemas.microsoft.com/office/drawing/2014/main" id="{DB82D9DE-25B9-5EC7-46C5-2A33B11D54F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7D58399-A3EB-040F-780D-8FB3A888156D}"/>
              </a:ext>
            </a:extLst>
          </p:cNvPr>
          <p:cNvSpPr>
            <a:spLocks noGrp="1"/>
          </p:cNvSpPr>
          <p:nvPr>
            <p:ph type="sldNum" sz="quarter" idx="12"/>
          </p:nvPr>
        </p:nvSpPr>
        <p:spPr/>
        <p:txBody>
          <a:bodyPr/>
          <a:lstStyle/>
          <a:p>
            <a:fld id="{AD01C915-39EE-4B38-8B1F-44559FFB4697}" type="slidenum">
              <a:rPr lang="es-MX" smtClean="0"/>
              <a:t>‹Nº›</a:t>
            </a:fld>
            <a:endParaRPr lang="es-MX"/>
          </a:p>
        </p:txBody>
      </p:sp>
    </p:spTree>
    <p:extLst>
      <p:ext uri="{BB962C8B-B14F-4D97-AF65-F5344CB8AC3E}">
        <p14:creationId xmlns:p14="http://schemas.microsoft.com/office/powerpoint/2010/main" val="4044798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BAED69-A8A4-857E-A001-AC5953DC58C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2590E2B-24BB-1F4D-176A-5DDDF31CA4D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B250794-349E-C0E0-1343-72AB4ABC095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D8ED4142-6980-4298-3A97-7EAA3A06A1D8}"/>
              </a:ext>
            </a:extLst>
          </p:cNvPr>
          <p:cNvSpPr>
            <a:spLocks noGrp="1"/>
          </p:cNvSpPr>
          <p:nvPr>
            <p:ph type="dt" sz="half" idx="10"/>
          </p:nvPr>
        </p:nvSpPr>
        <p:spPr/>
        <p:txBody>
          <a:bodyPr/>
          <a:lstStyle/>
          <a:p>
            <a:fld id="{8321242E-FB9A-4045-9293-E7D9DDC6327D}" type="datetimeFigureOut">
              <a:rPr lang="es-MX" smtClean="0"/>
              <a:t>06/11/2025</a:t>
            </a:fld>
            <a:endParaRPr lang="es-MX"/>
          </a:p>
        </p:txBody>
      </p:sp>
      <p:sp>
        <p:nvSpPr>
          <p:cNvPr id="6" name="Marcador de pie de página 5">
            <a:extLst>
              <a:ext uri="{FF2B5EF4-FFF2-40B4-BE49-F238E27FC236}">
                <a16:creationId xmlns:a16="http://schemas.microsoft.com/office/drawing/2014/main" id="{F696D7FB-42F6-A9A1-79CC-AE03396B42B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94E49B3-EFA5-2D88-3448-D824ED52C2C2}"/>
              </a:ext>
            </a:extLst>
          </p:cNvPr>
          <p:cNvSpPr>
            <a:spLocks noGrp="1"/>
          </p:cNvSpPr>
          <p:nvPr>
            <p:ph type="sldNum" sz="quarter" idx="12"/>
          </p:nvPr>
        </p:nvSpPr>
        <p:spPr/>
        <p:txBody>
          <a:bodyPr/>
          <a:lstStyle/>
          <a:p>
            <a:fld id="{AD01C915-39EE-4B38-8B1F-44559FFB4697}" type="slidenum">
              <a:rPr lang="es-MX" smtClean="0"/>
              <a:t>‹Nº›</a:t>
            </a:fld>
            <a:endParaRPr lang="es-MX"/>
          </a:p>
        </p:txBody>
      </p:sp>
    </p:spTree>
    <p:extLst>
      <p:ext uri="{BB962C8B-B14F-4D97-AF65-F5344CB8AC3E}">
        <p14:creationId xmlns:p14="http://schemas.microsoft.com/office/powerpoint/2010/main" val="2400196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510C62-8283-81CE-44F4-0829A3D3065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E2165D3-9186-0176-9247-F546B2FD66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EDC8F3B-2813-92DA-4565-AA5D18E347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8EB1F846-A9F7-65F2-1F25-5C27AB121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B797E67-78A0-87DB-2D79-D9193B1E970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B99DC1CD-EEC6-275B-3552-996D6F1098C0}"/>
              </a:ext>
            </a:extLst>
          </p:cNvPr>
          <p:cNvSpPr>
            <a:spLocks noGrp="1"/>
          </p:cNvSpPr>
          <p:nvPr>
            <p:ph type="dt" sz="half" idx="10"/>
          </p:nvPr>
        </p:nvSpPr>
        <p:spPr/>
        <p:txBody>
          <a:bodyPr/>
          <a:lstStyle/>
          <a:p>
            <a:fld id="{8321242E-FB9A-4045-9293-E7D9DDC6327D}" type="datetimeFigureOut">
              <a:rPr lang="es-MX" smtClean="0"/>
              <a:t>06/11/2025</a:t>
            </a:fld>
            <a:endParaRPr lang="es-MX"/>
          </a:p>
        </p:txBody>
      </p:sp>
      <p:sp>
        <p:nvSpPr>
          <p:cNvPr id="8" name="Marcador de pie de página 7">
            <a:extLst>
              <a:ext uri="{FF2B5EF4-FFF2-40B4-BE49-F238E27FC236}">
                <a16:creationId xmlns:a16="http://schemas.microsoft.com/office/drawing/2014/main" id="{C741D4F4-A086-3E26-0B24-DDD4E370AFFC}"/>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79B984AB-5E58-4675-3D72-6A0DB03AEA62}"/>
              </a:ext>
            </a:extLst>
          </p:cNvPr>
          <p:cNvSpPr>
            <a:spLocks noGrp="1"/>
          </p:cNvSpPr>
          <p:nvPr>
            <p:ph type="sldNum" sz="quarter" idx="12"/>
          </p:nvPr>
        </p:nvSpPr>
        <p:spPr/>
        <p:txBody>
          <a:bodyPr/>
          <a:lstStyle/>
          <a:p>
            <a:fld id="{AD01C915-39EE-4B38-8B1F-44559FFB4697}" type="slidenum">
              <a:rPr lang="es-MX" smtClean="0"/>
              <a:t>‹Nº›</a:t>
            </a:fld>
            <a:endParaRPr lang="es-MX"/>
          </a:p>
        </p:txBody>
      </p:sp>
    </p:spTree>
    <p:extLst>
      <p:ext uri="{BB962C8B-B14F-4D97-AF65-F5344CB8AC3E}">
        <p14:creationId xmlns:p14="http://schemas.microsoft.com/office/powerpoint/2010/main" val="2794154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C19D29-9229-8A8B-EC56-C20ABE6C093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3F79E525-D176-5431-CC0F-07F0D9F2C9C9}"/>
              </a:ext>
            </a:extLst>
          </p:cNvPr>
          <p:cNvSpPr>
            <a:spLocks noGrp="1"/>
          </p:cNvSpPr>
          <p:nvPr>
            <p:ph type="dt" sz="half" idx="10"/>
          </p:nvPr>
        </p:nvSpPr>
        <p:spPr/>
        <p:txBody>
          <a:bodyPr/>
          <a:lstStyle/>
          <a:p>
            <a:fld id="{8321242E-FB9A-4045-9293-E7D9DDC6327D}" type="datetimeFigureOut">
              <a:rPr lang="es-MX" smtClean="0"/>
              <a:t>06/11/2025</a:t>
            </a:fld>
            <a:endParaRPr lang="es-MX"/>
          </a:p>
        </p:txBody>
      </p:sp>
      <p:sp>
        <p:nvSpPr>
          <p:cNvPr id="4" name="Marcador de pie de página 3">
            <a:extLst>
              <a:ext uri="{FF2B5EF4-FFF2-40B4-BE49-F238E27FC236}">
                <a16:creationId xmlns:a16="http://schemas.microsoft.com/office/drawing/2014/main" id="{CA29F189-3AB9-602B-4845-B53BE512845C}"/>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FDA52415-5301-B72E-C3A5-88661C2E1D1E}"/>
              </a:ext>
            </a:extLst>
          </p:cNvPr>
          <p:cNvSpPr>
            <a:spLocks noGrp="1"/>
          </p:cNvSpPr>
          <p:nvPr>
            <p:ph type="sldNum" sz="quarter" idx="12"/>
          </p:nvPr>
        </p:nvSpPr>
        <p:spPr/>
        <p:txBody>
          <a:bodyPr/>
          <a:lstStyle/>
          <a:p>
            <a:fld id="{AD01C915-39EE-4B38-8B1F-44559FFB4697}" type="slidenum">
              <a:rPr lang="es-MX" smtClean="0"/>
              <a:t>‹Nº›</a:t>
            </a:fld>
            <a:endParaRPr lang="es-MX"/>
          </a:p>
        </p:txBody>
      </p:sp>
    </p:spTree>
    <p:extLst>
      <p:ext uri="{BB962C8B-B14F-4D97-AF65-F5344CB8AC3E}">
        <p14:creationId xmlns:p14="http://schemas.microsoft.com/office/powerpoint/2010/main" val="988379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0442D1E-B24E-1F23-510E-19FFBC380789}"/>
              </a:ext>
            </a:extLst>
          </p:cNvPr>
          <p:cNvSpPr>
            <a:spLocks noGrp="1"/>
          </p:cNvSpPr>
          <p:nvPr>
            <p:ph type="dt" sz="half" idx="10"/>
          </p:nvPr>
        </p:nvSpPr>
        <p:spPr/>
        <p:txBody>
          <a:bodyPr/>
          <a:lstStyle/>
          <a:p>
            <a:fld id="{8321242E-FB9A-4045-9293-E7D9DDC6327D}" type="datetimeFigureOut">
              <a:rPr lang="es-MX" smtClean="0"/>
              <a:t>06/11/2025</a:t>
            </a:fld>
            <a:endParaRPr lang="es-MX"/>
          </a:p>
        </p:txBody>
      </p:sp>
      <p:sp>
        <p:nvSpPr>
          <p:cNvPr id="3" name="Marcador de pie de página 2">
            <a:extLst>
              <a:ext uri="{FF2B5EF4-FFF2-40B4-BE49-F238E27FC236}">
                <a16:creationId xmlns:a16="http://schemas.microsoft.com/office/drawing/2014/main" id="{E70B7F9C-2EEC-A200-6CCB-D5B9BCD7BCBB}"/>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CF60E53-3504-ADC5-3549-8FD36091F1F0}"/>
              </a:ext>
            </a:extLst>
          </p:cNvPr>
          <p:cNvSpPr>
            <a:spLocks noGrp="1"/>
          </p:cNvSpPr>
          <p:nvPr>
            <p:ph type="sldNum" sz="quarter" idx="12"/>
          </p:nvPr>
        </p:nvSpPr>
        <p:spPr/>
        <p:txBody>
          <a:bodyPr/>
          <a:lstStyle/>
          <a:p>
            <a:fld id="{AD01C915-39EE-4B38-8B1F-44559FFB4697}" type="slidenum">
              <a:rPr lang="es-MX" smtClean="0"/>
              <a:t>‹Nº›</a:t>
            </a:fld>
            <a:endParaRPr lang="es-MX"/>
          </a:p>
        </p:txBody>
      </p:sp>
    </p:spTree>
    <p:extLst>
      <p:ext uri="{BB962C8B-B14F-4D97-AF65-F5344CB8AC3E}">
        <p14:creationId xmlns:p14="http://schemas.microsoft.com/office/powerpoint/2010/main" val="3560318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0857BA-73F8-52C3-8DDB-819FF61A70D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27A7D60-2D0E-EA26-CAB6-A29B0F11DD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2E659190-5F18-B075-4F1D-40F15170E5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9ABBC6C-8493-BB32-FDB3-EA6B76E306EE}"/>
              </a:ext>
            </a:extLst>
          </p:cNvPr>
          <p:cNvSpPr>
            <a:spLocks noGrp="1"/>
          </p:cNvSpPr>
          <p:nvPr>
            <p:ph type="dt" sz="half" idx="10"/>
          </p:nvPr>
        </p:nvSpPr>
        <p:spPr/>
        <p:txBody>
          <a:bodyPr/>
          <a:lstStyle/>
          <a:p>
            <a:fld id="{8321242E-FB9A-4045-9293-E7D9DDC6327D}" type="datetimeFigureOut">
              <a:rPr lang="es-MX" smtClean="0"/>
              <a:t>06/11/2025</a:t>
            </a:fld>
            <a:endParaRPr lang="es-MX"/>
          </a:p>
        </p:txBody>
      </p:sp>
      <p:sp>
        <p:nvSpPr>
          <p:cNvPr id="6" name="Marcador de pie de página 5">
            <a:extLst>
              <a:ext uri="{FF2B5EF4-FFF2-40B4-BE49-F238E27FC236}">
                <a16:creationId xmlns:a16="http://schemas.microsoft.com/office/drawing/2014/main" id="{F2085640-A03A-D55A-09FD-3BFEBCE6643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092AB0B-99E1-4EC6-081C-9E8222E5BF49}"/>
              </a:ext>
            </a:extLst>
          </p:cNvPr>
          <p:cNvSpPr>
            <a:spLocks noGrp="1"/>
          </p:cNvSpPr>
          <p:nvPr>
            <p:ph type="sldNum" sz="quarter" idx="12"/>
          </p:nvPr>
        </p:nvSpPr>
        <p:spPr/>
        <p:txBody>
          <a:bodyPr/>
          <a:lstStyle/>
          <a:p>
            <a:fld id="{AD01C915-39EE-4B38-8B1F-44559FFB4697}" type="slidenum">
              <a:rPr lang="es-MX" smtClean="0"/>
              <a:t>‹Nº›</a:t>
            </a:fld>
            <a:endParaRPr lang="es-MX"/>
          </a:p>
        </p:txBody>
      </p:sp>
    </p:spTree>
    <p:extLst>
      <p:ext uri="{BB962C8B-B14F-4D97-AF65-F5344CB8AC3E}">
        <p14:creationId xmlns:p14="http://schemas.microsoft.com/office/powerpoint/2010/main" val="2526544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FDAAB8-33D4-E80F-666F-833F0B0A859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0A018FE0-BA3E-F8FA-8730-6534039AE6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07F7614A-23A7-E4B2-29B1-CDD85CDF58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510628-B6FB-13C2-E836-6395559BBDB5}"/>
              </a:ext>
            </a:extLst>
          </p:cNvPr>
          <p:cNvSpPr>
            <a:spLocks noGrp="1"/>
          </p:cNvSpPr>
          <p:nvPr>
            <p:ph type="dt" sz="half" idx="10"/>
          </p:nvPr>
        </p:nvSpPr>
        <p:spPr/>
        <p:txBody>
          <a:bodyPr/>
          <a:lstStyle/>
          <a:p>
            <a:fld id="{8321242E-FB9A-4045-9293-E7D9DDC6327D}" type="datetimeFigureOut">
              <a:rPr lang="es-MX" smtClean="0"/>
              <a:t>06/11/2025</a:t>
            </a:fld>
            <a:endParaRPr lang="es-MX"/>
          </a:p>
        </p:txBody>
      </p:sp>
      <p:sp>
        <p:nvSpPr>
          <p:cNvPr id="6" name="Marcador de pie de página 5">
            <a:extLst>
              <a:ext uri="{FF2B5EF4-FFF2-40B4-BE49-F238E27FC236}">
                <a16:creationId xmlns:a16="http://schemas.microsoft.com/office/drawing/2014/main" id="{55FA1D3E-C2B3-69D7-FAB1-84BFD352664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26E0F2E-718E-0A5C-035E-2FDE0A012EF7}"/>
              </a:ext>
            </a:extLst>
          </p:cNvPr>
          <p:cNvSpPr>
            <a:spLocks noGrp="1"/>
          </p:cNvSpPr>
          <p:nvPr>
            <p:ph type="sldNum" sz="quarter" idx="12"/>
          </p:nvPr>
        </p:nvSpPr>
        <p:spPr/>
        <p:txBody>
          <a:bodyPr/>
          <a:lstStyle/>
          <a:p>
            <a:fld id="{AD01C915-39EE-4B38-8B1F-44559FFB4697}" type="slidenum">
              <a:rPr lang="es-MX" smtClean="0"/>
              <a:t>‹Nº›</a:t>
            </a:fld>
            <a:endParaRPr lang="es-MX"/>
          </a:p>
        </p:txBody>
      </p:sp>
    </p:spTree>
    <p:extLst>
      <p:ext uri="{BB962C8B-B14F-4D97-AF65-F5344CB8AC3E}">
        <p14:creationId xmlns:p14="http://schemas.microsoft.com/office/powerpoint/2010/main" val="568052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45E213-D70D-B438-52C5-6E6DF9D58B2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554336B-2ADC-FEEE-07A6-BFD01E19644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87FDCEF-62F0-5279-6018-F0B76EFB3DAD}"/>
              </a:ext>
            </a:extLst>
          </p:cNvPr>
          <p:cNvSpPr>
            <a:spLocks noGrp="1"/>
          </p:cNvSpPr>
          <p:nvPr>
            <p:ph type="dt" sz="half" idx="10"/>
          </p:nvPr>
        </p:nvSpPr>
        <p:spPr/>
        <p:txBody>
          <a:bodyPr/>
          <a:lstStyle/>
          <a:p>
            <a:fld id="{8321242E-FB9A-4045-9293-E7D9DDC6327D}" type="datetimeFigureOut">
              <a:rPr lang="es-MX" smtClean="0"/>
              <a:t>06/11/2025</a:t>
            </a:fld>
            <a:endParaRPr lang="es-MX"/>
          </a:p>
        </p:txBody>
      </p:sp>
      <p:sp>
        <p:nvSpPr>
          <p:cNvPr id="5" name="Marcador de pie de página 4">
            <a:extLst>
              <a:ext uri="{FF2B5EF4-FFF2-40B4-BE49-F238E27FC236}">
                <a16:creationId xmlns:a16="http://schemas.microsoft.com/office/drawing/2014/main" id="{7D243BF4-7390-7212-DD1A-41222FE18AE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D0E41AB-081F-2093-ABAF-CCAC1BAB2655}"/>
              </a:ext>
            </a:extLst>
          </p:cNvPr>
          <p:cNvSpPr>
            <a:spLocks noGrp="1"/>
          </p:cNvSpPr>
          <p:nvPr>
            <p:ph type="sldNum" sz="quarter" idx="12"/>
          </p:nvPr>
        </p:nvSpPr>
        <p:spPr/>
        <p:txBody>
          <a:bodyPr/>
          <a:lstStyle/>
          <a:p>
            <a:fld id="{AD01C915-39EE-4B38-8B1F-44559FFB4697}" type="slidenum">
              <a:rPr lang="es-MX" smtClean="0"/>
              <a:t>‹Nº›</a:t>
            </a:fld>
            <a:endParaRPr lang="es-MX"/>
          </a:p>
        </p:txBody>
      </p:sp>
    </p:spTree>
    <p:extLst>
      <p:ext uri="{BB962C8B-B14F-4D97-AF65-F5344CB8AC3E}">
        <p14:creationId xmlns:p14="http://schemas.microsoft.com/office/powerpoint/2010/main" val="600727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1631656-B624-92E3-82AD-E9056CD689B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B9A5F01-3113-2C3E-FC36-EFB5F46C3CF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81B3B3E-DB36-AC8B-0902-ED6A17A50085}"/>
              </a:ext>
            </a:extLst>
          </p:cNvPr>
          <p:cNvSpPr>
            <a:spLocks noGrp="1"/>
          </p:cNvSpPr>
          <p:nvPr>
            <p:ph type="dt" sz="half" idx="10"/>
          </p:nvPr>
        </p:nvSpPr>
        <p:spPr/>
        <p:txBody>
          <a:bodyPr/>
          <a:lstStyle/>
          <a:p>
            <a:fld id="{8321242E-FB9A-4045-9293-E7D9DDC6327D}" type="datetimeFigureOut">
              <a:rPr lang="es-MX" smtClean="0"/>
              <a:t>06/11/2025</a:t>
            </a:fld>
            <a:endParaRPr lang="es-MX"/>
          </a:p>
        </p:txBody>
      </p:sp>
      <p:sp>
        <p:nvSpPr>
          <p:cNvPr id="5" name="Marcador de pie de página 4">
            <a:extLst>
              <a:ext uri="{FF2B5EF4-FFF2-40B4-BE49-F238E27FC236}">
                <a16:creationId xmlns:a16="http://schemas.microsoft.com/office/drawing/2014/main" id="{273AF1D1-90E8-E404-5347-954607BE9AC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8FB707F-868E-8B52-1E27-81DD4026F668}"/>
              </a:ext>
            </a:extLst>
          </p:cNvPr>
          <p:cNvSpPr>
            <a:spLocks noGrp="1"/>
          </p:cNvSpPr>
          <p:nvPr>
            <p:ph type="sldNum" sz="quarter" idx="12"/>
          </p:nvPr>
        </p:nvSpPr>
        <p:spPr/>
        <p:txBody>
          <a:bodyPr/>
          <a:lstStyle/>
          <a:p>
            <a:fld id="{AD01C915-39EE-4B38-8B1F-44559FFB4697}" type="slidenum">
              <a:rPr lang="es-MX" smtClean="0"/>
              <a:t>‹Nº›</a:t>
            </a:fld>
            <a:endParaRPr lang="es-MX"/>
          </a:p>
        </p:txBody>
      </p:sp>
    </p:spTree>
    <p:extLst>
      <p:ext uri="{BB962C8B-B14F-4D97-AF65-F5344CB8AC3E}">
        <p14:creationId xmlns:p14="http://schemas.microsoft.com/office/powerpoint/2010/main" val="3703150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CAD95FE-7B31-C97F-5990-1EDB7931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1A36FE4-CA4B-CF01-339B-81A45D0240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EDC6384-9E26-3D5A-7D92-9EBBD86D01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21242E-FB9A-4045-9293-E7D9DDC6327D}" type="datetimeFigureOut">
              <a:rPr lang="es-MX" smtClean="0"/>
              <a:t>06/11/2025</a:t>
            </a:fld>
            <a:endParaRPr lang="es-MX"/>
          </a:p>
        </p:txBody>
      </p:sp>
      <p:sp>
        <p:nvSpPr>
          <p:cNvPr id="5" name="Marcador de pie de página 4">
            <a:extLst>
              <a:ext uri="{FF2B5EF4-FFF2-40B4-BE49-F238E27FC236}">
                <a16:creationId xmlns:a16="http://schemas.microsoft.com/office/drawing/2014/main" id="{86FEC8DD-F1AA-EB1D-936D-1476D2C3C8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D10DA3DE-46CB-4571-0CA5-3C2C13C019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D01C915-39EE-4B38-8B1F-44559FFB4697}" type="slidenum">
              <a:rPr lang="es-MX" smtClean="0"/>
              <a:t>‹Nº›</a:t>
            </a:fld>
            <a:endParaRPr lang="es-MX"/>
          </a:p>
        </p:txBody>
      </p:sp>
    </p:spTree>
    <p:extLst>
      <p:ext uri="{BB962C8B-B14F-4D97-AF65-F5344CB8AC3E}">
        <p14:creationId xmlns:p14="http://schemas.microsoft.com/office/powerpoint/2010/main" val="1016927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es.wikipedia.org/wiki/Kaize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BEE8124-A46C-4385-441E-8D69FB2D121E}"/>
              </a:ext>
            </a:extLst>
          </p:cNvPr>
          <p:cNvSpPr>
            <a:spLocks noGrp="1"/>
          </p:cNvSpPr>
          <p:nvPr>
            <p:ph type="ctrTitle"/>
          </p:nvPr>
        </p:nvSpPr>
        <p:spPr>
          <a:xfrm>
            <a:off x="2756555" y="1817725"/>
            <a:ext cx="2793362" cy="3007994"/>
          </a:xfrm>
        </p:spPr>
        <p:txBody>
          <a:bodyPr vert="horz" anchor="ctr">
            <a:normAutofit/>
          </a:bodyPr>
          <a:lstStyle/>
          <a:p>
            <a:pPr algn="r"/>
            <a:r>
              <a:rPr lang="es-MX" sz="4800" b="1" dirty="0"/>
              <a:t>Sistemas de Costeo</a:t>
            </a:r>
          </a:p>
        </p:txBody>
      </p:sp>
      <p:sp>
        <p:nvSpPr>
          <p:cNvPr id="3" name="Subtítulo 2">
            <a:extLst>
              <a:ext uri="{FF2B5EF4-FFF2-40B4-BE49-F238E27FC236}">
                <a16:creationId xmlns:a16="http://schemas.microsoft.com/office/drawing/2014/main" id="{99B71B23-1F30-0B7A-7D11-0964A79A40CC}"/>
              </a:ext>
            </a:extLst>
          </p:cNvPr>
          <p:cNvSpPr>
            <a:spLocks noGrp="1"/>
          </p:cNvSpPr>
          <p:nvPr>
            <p:ph type="subTitle" idx="1"/>
          </p:nvPr>
        </p:nvSpPr>
        <p:spPr>
          <a:xfrm>
            <a:off x="6672325" y="6366783"/>
            <a:ext cx="4036333" cy="476522"/>
          </a:xfrm>
        </p:spPr>
        <p:txBody>
          <a:bodyPr anchor="b">
            <a:normAutofit/>
          </a:bodyPr>
          <a:lstStyle/>
          <a:p>
            <a:pPr algn="l"/>
            <a:r>
              <a:rPr lang="es-MX" sz="2000" dirty="0"/>
              <a:t>Dra. Edna María Franco Bojórquez</a:t>
            </a:r>
          </a:p>
        </p:txBody>
      </p:sp>
      <p:grpSp>
        <p:nvGrpSpPr>
          <p:cNvPr id="1033" name="Group 103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034" name="Rectangle 103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6" name="Rectangle 103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8" name="Rectangle 103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osto estándar: Qué es y cómo optimizar los costos de producción">
            <a:extLst>
              <a:ext uri="{FF2B5EF4-FFF2-40B4-BE49-F238E27FC236}">
                <a16:creationId xmlns:a16="http://schemas.microsoft.com/office/drawing/2014/main" id="{F5AA8D1D-6C68-0860-380D-AD6EA995E06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57597" y="666728"/>
            <a:ext cx="5465791" cy="546579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8" descr="ADMISIÓN UNISON">
            <a:extLst>
              <a:ext uri="{FF2B5EF4-FFF2-40B4-BE49-F238E27FC236}">
                <a16:creationId xmlns:a16="http://schemas.microsoft.com/office/drawing/2014/main" id="{AC627C63-6DB9-9ACF-FCA5-4D9C1162C6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13"/>
          <a:stretch/>
        </p:blipFill>
        <p:spPr bwMode="auto">
          <a:xfrm>
            <a:off x="937133" y="2234882"/>
            <a:ext cx="1819422" cy="238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555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9EA5700-D982-E579-EBDA-6B137C9C217C}"/>
              </a:ext>
            </a:extLst>
          </p:cNvPr>
          <p:cNvSpPr>
            <a:spLocks noGrp="1"/>
          </p:cNvSpPr>
          <p:nvPr>
            <p:ph type="title"/>
          </p:nvPr>
        </p:nvSpPr>
        <p:spPr>
          <a:xfrm>
            <a:off x="1289304" y="1080048"/>
            <a:ext cx="9849751" cy="1349671"/>
          </a:xfrm>
        </p:spPr>
        <p:txBody>
          <a:bodyPr anchor="ctr">
            <a:normAutofit/>
          </a:bodyPr>
          <a:lstStyle/>
          <a:p>
            <a:r>
              <a:rPr lang="es-MX" sz="5400" dirty="0"/>
              <a:t>Costo Estándar</a:t>
            </a:r>
          </a:p>
        </p:txBody>
      </p:sp>
      <p:sp>
        <p:nvSpPr>
          <p:cNvPr id="3" name="Marcador de contenido 2">
            <a:extLst>
              <a:ext uri="{FF2B5EF4-FFF2-40B4-BE49-F238E27FC236}">
                <a16:creationId xmlns:a16="http://schemas.microsoft.com/office/drawing/2014/main" id="{485C5009-9C85-6395-DADC-795D38927E27}"/>
              </a:ext>
            </a:extLst>
          </p:cNvPr>
          <p:cNvSpPr>
            <a:spLocks noGrp="1"/>
          </p:cNvSpPr>
          <p:nvPr>
            <p:ph idx="1"/>
          </p:nvPr>
        </p:nvSpPr>
        <p:spPr>
          <a:xfrm>
            <a:off x="1289304" y="2586848"/>
            <a:ext cx="9849751" cy="3348233"/>
          </a:xfrm>
        </p:spPr>
        <p:txBody>
          <a:bodyPr anchor="ctr">
            <a:normAutofit/>
          </a:bodyPr>
          <a:lstStyle/>
          <a:p>
            <a:pPr marL="0" indent="0" algn="ctr">
              <a:buNone/>
            </a:pPr>
            <a:r>
              <a:rPr lang="es-MX" sz="3200" dirty="0"/>
              <a:t>Un </a:t>
            </a:r>
            <a:r>
              <a:rPr lang="es-MX" sz="3200" b="1" dirty="0"/>
              <a:t>estándar </a:t>
            </a:r>
            <a:r>
              <a:rPr lang="es-MX" sz="3200" dirty="0"/>
              <a:t>es una norma y/o modelo establecidos para garantizar la calidad organizacional, en búsqueda de un resultados en común.</a:t>
            </a:r>
          </a:p>
        </p:txBody>
      </p:sp>
      <p:pic>
        <p:nvPicPr>
          <p:cNvPr id="5" name="Picture 8" descr="ADMISIÓN UNISON">
            <a:extLst>
              <a:ext uri="{FF2B5EF4-FFF2-40B4-BE49-F238E27FC236}">
                <a16:creationId xmlns:a16="http://schemas.microsoft.com/office/drawing/2014/main" id="{AC14A435-31D6-3702-1DC5-B92EDC65D4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0143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CB6E8F-F870-0ABC-4387-0E6021AF17E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92BF483-E0CC-1FBC-9E72-6E4CF93581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201E036-3CCF-FB5E-A8FB-27BC839A4C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B8120251-342B-D98F-CB27-278A68F730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9A87F0F-772D-77A7-301C-E486994DA5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0B576C18-7842-8B97-2274-AB6880944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96398F7-92BF-3F39-FF83-401D730DECF7}"/>
              </a:ext>
            </a:extLst>
          </p:cNvPr>
          <p:cNvSpPr>
            <a:spLocks noGrp="1"/>
          </p:cNvSpPr>
          <p:nvPr>
            <p:ph idx="1"/>
          </p:nvPr>
        </p:nvSpPr>
        <p:spPr>
          <a:xfrm>
            <a:off x="1289304" y="922920"/>
            <a:ext cx="9849751" cy="5012162"/>
          </a:xfrm>
        </p:spPr>
        <p:txBody>
          <a:bodyPr anchor="ctr">
            <a:normAutofit/>
          </a:bodyPr>
          <a:lstStyle/>
          <a:p>
            <a:pPr marL="0" indent="0" algn="ctr">
              <a:buNone/>
            </a:pPr>
            <a:r>
              <a:rPr lang="es-ES" sz="3200" dirty="0"/>
              <a:t>Los </a:t>
            </a:r>
            <a:r>
              <a:rPr lang="es-ES" sz="3200" b="1" dirty="0"/>
              <a:t>estándares de precio </a:t>
            </a:r>
            <a:r>
              <a:rPr lang="es-ES" sz="3200" dirty="0"/>
              <a:t>especifican cuánto debería pagarse por la cantidad de insumos que han de usarse. </a:t>
            </a:r>
          </a:p>
          <a:p>
            <a:pPr marL="0" indent="0" algn="ctr">
              <a:buNone/>
            </a:pPr>
            <a:endParaRPr lang="es-ES" sz="3200" dirty="0"/>
          </a:p>
          <a:p>
            <a:pPr marL="0" indent="0" algn="ctr">
              <a:buNone/>
            </a:pPr>
            <a:r>
              <a:rPr lang="es-ES" sz="3200" dirty="0"/>
              <a:t>Los </a:t>
            </a:r>
            <a:r>
              <a:rPr lang="es-ES" sz="3200" b="1" dirty="0"/>
              <a:t>estándares de cantidad </a:t>
            </a:r>
            <a:r>
              <a:rPr lang="es-ES" sz="3200" dirty="0"/>
              <a:t>especifican la cantidad de un insumo que debería usarse por unidad de producción. </a:t>
            </a:r>
            <a:endParaRPr lang="es-MX" sz="3200" dirty="0"/>
          </a:p>
        </p:txBody>
      </p:sp>
      <p:pic>
        <p:nvPicPr>
          <p:cNvPr id="5" name="Picture 8" descr="ADMISIÓN UNISON">
            <a:extLst>
              <a:ext uri="{FF2B5EF4-FFF2-40B4-BE49-F238E27FC236}">
                <a16:creationId xmlns:a16="http://schemas.microsoft.com/office/drawing/2014/main" id="{F49D5547-E969-D072-D7F3-19DE2DD0FC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432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0C4625-86E3-5B26-DFCA-C740A6B78C6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11ACAA9-B31F-10CB-EA8E-C591174098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76E5679B-6E4F-A078-C5D0-764C51E90B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4F1F5515-E652-3AFF-3B07-6121473896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693DB8-E200-8C0D-13AB-CC1202950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17337D4-2F28-3586-471E-A3F1B681C9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0ED9072-2546-CA0B-802C-9CA125009651}"/>
              </a:ext>
            </a:extLst>
          </p:cNvPr>
          <p:cNvSpPr>
            <a:spLocks noGrp="1"/>
          </p:cNvSpPr>
          <p:nvPr>
            <p:ph idx="1"/>
          </p:nvPr>
        </p:nvSpPr>
        <p:spPr>
          <a:xfrm>
            <a:off x="1289304" y="922919"/>
            <a:ext cx="9849751" cy="5012163"/>
          </a:xfrm>
        </p:spPr>
        <p:txBody>
          <a:bodyPr anchor="ctr">
            <a:normAutofit/>
          </a:bodyPr>
          <a:lstStyle/>
          <a:p>
            <a:pPr marL="0" indent="0" algn="ctr">
              <a:buNone/>
            </a:pPr>
            <a:r>
              <a:rPr lang="es-ES" sz="3200" dirty="0"/>
              <a:t>El costo estándar unitario se define como el producto de estos dos estándares: </a:t>
            </a:r>
          </a:p>
          <a:p>
            <a:pPr marL="0" indent="0" algn="ctr">
              <a:buNone/>
            </a:pPr>
            <a:endParaRPr lang="es-ES" sz="3200" dirty="0"/>
          </a:p>
          <a:p>
            <a:pPr marL="0" indent="0" algn="ctr">
              <a:buNone/>
            </a:pPr>
            <a:r>
              <a:rPr lang="es-ES" sz="3200" dirty="0"/>
              <a:t>precio estándar X cantidad estándar =  (PS X QS).</a:t>
            </a:r>
            <a:endParaRPr lang="es-MX" sz="3200" dirty="0"/>
          </a:p>
        </p:txBody>
      </p:sp>
      <p:pic>
        <p:nvPicPr>
          <p:cNvPr id="5" name="Picture 8" descr="ADMISIÓN UNISON">
            <a:extLst>
              <a:ext uri="{FF2B5EF4-FFF2-40B4-BE49-F238E27FC236}">
                <a16:creationId xmlns:a16="http://schemas.microsoft.com/office/drawing/2014/main" id="{0EA2C442-770D-5324-BAD7-9174DF5757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2047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B007B6-6EBD-E598-DD32-4D63D78CB5C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CD05E40-1763-5022-1DA8-EF8838E818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3BAFFD15-D655-C8DA-76A2-3D7800AF0A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548C7F81-0696-44D8-EA2E-B8C7FC4A3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B195901-2418-D017-3CF4-DD20A1D0E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D97739B7-D59C-5F8A-0B3A-B326E3FCB3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59A884E-916B-49A1-BD7E-98D5EB1EBAA1}"/>
              </a:ext>
            </a:extLst>
          </p:cNvPr>
          <p:cNvSpPr>
            <a:spLocks noGrp="1"/>
          </p:cNvSpPr>
          <p:nvPr>
            <p:ph idx="1"/>
          </p:nvPr>
        </p:nvSpPr>
        <p:spPr>
          <a:xfrm>
            <a:off x="1289304" y="1244010"/>
            <a:ext cx="9849751" cy="4691072"/>
          </a:xfrm>
        </p:spPr>
        <p:txBody>
          <a:bodyPr anchor="ctr">
            <a:normAutofit/>
          </a:bodyPr>
          <a:lstStyle/>
          <a:p>
            <a:pPr marL="0" indent="0">
              <a:buNone/>
            </a:pPr>
            <a:r>
              <a:rPr lang="es-ES" sz="3600" b="1" dirty="0"/>
              <a:t>Establecimiento de estándares</a:t>
            </a:r>
          </a:p>
          <a:p>
            <a:pPr marL="0" indent="0">
              <a:buNone/>
            </a:pPr>
            <a:endParaRPr lang="es-ES" sz="3600" b="1" dirty="0"/>
          </a:p>
          <a:p>
            <a:pPr marL="0" indent="0" algn="just">
              <a:buNone/>
            </a:pPr>
            <a:r>
              <a:rPr lang="es-ES" sz="3600" dirty="0"/>
              <a:t>El desarrollo de estándares requiere de insumos significativos a partir de una variedad de fuentes:</a:t>
            </a:r>
          </a:p>
          <a:p>
            <a:r>
              <a:rPr lang="es-ES" sz="3600" dirty="0"/>
              <a:t>Las experiencias históricas</a:t>
            </a:r>
          </a:p>
          <a:p>
            <a:r>
              <a:rPr lang="es-ES" sz="3600" dirty="0"/>
              <a:t>Los estudios de ingeniería</a:t>
            </a:r>
          </a:p>
          <a:p>
            <a:r>
              <a:rPr lang="es-ES" sz="3600" dirty="0"/>
              <a:t>Los insumos provenientes del personal operativo </a:t>
            </a:r>
          </a:p>
        </p:txBody>
      </p:sp>
      <p:pic>
        <p:nvPicPr>
          <p:cNvPr id="5" name="Picture 8" descr="ADMISIÓN UNISON">
            <a:extLst>
              <a:ext uri="{FF2B5EF4-FFF2-40B4-BE49-F238E27FC236}">
                <a16:creationId xmlns:a16="http://schemas.microsoft.com/office/drawing/2014/main" id="{67176A0D-5469-2804-36D9-A45D401DB3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3327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0A9D62-6B23-EE43-9E2D-254D93F234C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D2416D1-F8E1-7D5D-24E1-5E13C4FD79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192799F-8A81-A05E-9C6C-A10A01A08B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AFC1281B-41E3-CBED-7E53-747AA28BE3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6576FB1-D487-3D0B-388C-49BD532AC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D74334E2-83BE-AD7D-B24C-F6AF3E97D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8B28C5B-35E9-E527-3DD6-61A1983DC53B}"/>
              </a:ext>
            </a:extLst>
          </p:cNvPr>
          <p:cNvSpPr>
            <a:spLocks noGrp="1"/>
          </p:cNvSpPr>
          <p:nvPr>
            <p:ph idx="1"/>
          </p:nvPr>
        </p:nvSpPr>
        <p:spPr>
          <a:xfrm>
            <a:off x="1289304" y="1244010"/>
            <a:ext cx="9849751" cy="4691072"/>
          </a:xfrm>
        </p:spPr>
        <p:txBody>
          <a:bodyPr anchor="ctr">
            <a:normAutofit/>
          </a:bodyPr>
          <a:lstStyle/>
          <a:p>
            <a:pPr marL="0" indent="0" algn="ctr">
              <a:buNone/>
            </a:pPr>
            <a:r>
              <a:rPr lang="es-ES" sz="3600" dirty="0"/>
              <a:t>Es común clasificar los estándares en ideales o alcanzables para el periodo actual. </a:t>
            </a:r>
          </a:p>
        </p:txBody>
      </p:sp>
      <p:pic>
        <p:nvPicPr>
          <p:cNvPr id="5" name="Picture 8" descr="ADMISIÓN UNISON">
            <a:extLst>
              <a:ext uri="{FF2B5EF4-FFF2-40B4-BE49-F238E27FC236}">
                <a16:creationId xmlns:a16="http://schemas.microsoft.com/office/drawing/2014/main" id="{87034075-3481-E4D3-8422-D0CAE3678A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0953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7E74A5-6E5D-FA25-818C-497DA04A13E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76E70-A9AF-B882-80C3-BDF73858C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7D6B0CC-E7FA-613E-4975-0A85BAC5151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07CE1775-F8DF-8D1E-4F8A-3161C2A5BD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E7AAC63-48AD-0447-4F61-265F33831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A178A117-7F9D-5762-103A-8E8C21F7F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8E48B44-3C57-3A86-CE56-19E0C7BF2175}"/>
              </a:ext>
            </a:extLst>
          </p:cNvPr>
          <p:cNvSpPr>
            <a:spLocks noGrp="1"/>
          </p:cNvSpPr>
          <p:nvPr>
            <p:ph idx="1"/>
          </p:nvPr>
        </p:nvSpPr>
        <p:spPr>
          <a:xfrm>
            <a:off x="1289304" y="1244010"/>
            <a:ext cx="9849751" cy="4691072"/>
          </a:xfrm>
        </p:spPr>
        <p:txBody>
          <a:bodyPr anchor="ctr">
            <a:normAutofit/>
          </a:bodyPr>
          <a:lstStyle/>
          <a:p>
            <a:pPr marL="0" indent="0" algn="just">
              <a:buNone/>
            </a:pPr>
            <a:r>
              <a:rPr lang="es-ES" sz="3600" dirty="0"/>
              <a:t>Los estándares ideales son normas que exigen una eficiencia máxima y que tan sólo pueden lograrse cuando todo funciona a la perfección. No se permiten descomposturas de las máquinas, periodos de baja actividad o falta de capacidad (incluso por momentos). </a:t>
            </a:r>
          </a:p>
        </p:txBody>
      </p:sp>
      <p:pic>
        <p:nvPicPr>
          <p:cNvPr id="5" name="Picture 8" descr="ADMISIÓN UNISON">
            <a:extLst>
              <a:ext uri="{FF2B5EF4-FFF2-40B4-BE49-F238E27FC236}">
                <a16:creationId xmlns:a16="http://schemas.microsoft.com/office/drawing/2014/main" id="{57B3136D-2F06-7ED5-4750-42E743B85B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5018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F7D4B9-A5FC-781D-91A7-AB51ADF0AAF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F92FDAD-5C0C-701D-9FA1-86B125025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9E052E4F-E327-1C11-B7D6-F83B184DE8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4DE1B983-D60E-7393-2627-59899E12F2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CE16BA1-4DF4-BAEB-43C6-2067B5273B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15A883A0-8701-D2FF-90F3-C54A88329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0C77D5D-35C2-3849-F331-17B8006BF356}"/>
              </a:ext>
            </a:extLst>
          </p:cNvPr>
          <p:cNvSpPr>
            <a:spLocks noGrp="1"/>
          </p:cNvSpPr>
          <p:nvPr>
            <p:ph idx="1"/>
          </p:nvPr>
        </p:nvSpPr>
        <p:spPr>
          <a:xfrm>
            <a:off x="1289304" y="1244010"/>
            <a:ext cx="9849751" cy="4691072"/>
          </a:xfrm>
        </p:spPr>
        <p:txBody>
          <a:bodyPr anchor="ctr">
            <a:normAutofit/>
          </a:bodyPr>
          <a:lstStyle/>
          <a:p>
            <a:pPr marL="0" indent="0" algn="just">
              <a:buNone/>
            </a:pPr>
            <a:r>
              <a:rPr lang="es-ES" sz="3600" dirty="0"/>
              <a:t>Los estándares alcanzables para el periodo actual se pueden lograr en condiciones operativas eficientes. Se hace una previsión de un nivel normal de descomposturas, interrupciones y habilidades menos que perfectas, y así sucesivamente. Estos estándares son exigentes pero alcanzables. </a:t>
            </a:r>
          </a:p>
        </p:txBody>
      </p:sp>
      <p:pic>
        <p:nvPicPr>
          <p:cNvPr id="5" name="Picture 8" descr="ADMISIÓN UNISON">
            <a:extLst>
              <a:ext uri="{FF2B5EF4-FFF2-40B4-BE49-F238E27FC236}">
                <a16:creationId xmlns:a16="http://schemas.microsoft.com/office/drawing/2014/main" id="{63B229F7-98D7-4FE5-2704-2735F23806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7888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668BD8-AE10-1947-51CA-E5F7DA007F6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673F95-A32C-E564-EA82-86E892577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FFC964F-4FE3-A639-28D1-556A5F91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B422A228-BB03-4876-23C6-F5CCDD6999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F6B4C8B-3B6C-C8BC-A3F1-0474052274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1ECC71E-D6A8-8D4B-0894-E3C571328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56C2E51-2BAA-2EE5-13C0-DDE32C837911}"/>
              </a:ext>
            </a:extLst>
          </p:cNvPr>
          <p:cNvSpPr>
            <a:spLocks noGrp="1"/>
          </p:cNvSpPr>
          <p:nvPr>
            <p:ph idx="1"/>
          </p:nvPr>
        </p:nvSpPr>
        <p:spPr>
          <a:xfrm>
            <a:off x="1289304" y="1244010"/>
            <a:ext cx="9849751" cy="4691072"/>
          </a:xfrm>
        </p:spPr>
        <p:txBody>
          <a:bodyPr anchor="ctr">
            <a:normAutofit/>
          </a:bodyPr>
          <a:lstStyle/>
          <a:p>
            <a:pPr marL="0" indent="0" algn="just">
              <a:buNone/>
            </a:pPr>
            <a:r>
              <a:rPr lang="es-ES" sz="3600" dirty="0"/>
              <a:t>Hay que tener precaución con los estándares, pues si son demasiado rigurosos —y por lo tanto imposibles de alcanzar—, el trabajador se frustra y los niveles de desempeño disminuyen</a:t>
            </a:r>
          </a:p>
        </p:txBody>
      </p:sp>
      <p:pic>
        <p:nvPicPr>
          <p:cNvPr id="5" name="Picture 8" descr="ADMISIÓN UNISON">
            <a:extLst>
              <a:ext uri="{FF2B5EF4-FFF2-40B4-BE49-F238E27FC236}">
                <a16:creationId xmlns:a16="http://schemas.microsoft.com/office/drawing/2014/main" id="{B59C9629-39E1-50E7-9682-F989F685E1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507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F7CF86-F8C0-2C42-3F85-6F96105F4E8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22D899-9D11-8D21-D3FC-03A167A8D1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97425333-9891-D772-2EE9-EC0265E645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7EB19296-1987-BD1B-10A4-472725117B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7A1A0D-8897-B309-D60C-03797EDEC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7D3BB5ED-BD4E-C11F-02DD-245E5A05F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E645C86-9F04-F5A9-B443-86C8B7794873}"/>
              </a:ext>
            </a:extLst>
          </p:cNvPr>
          <p:cNvSpPr>
            <a:spLocks noGrp="1"/>
          </p:cNvSpPr>
          <p:nvPr>
            <p:ph idx="1"/>
          </p:nvPr>
        </p:nvSpPr>
        <p:spPr>
          <a:xfrm>
            <a:off x="1289304" y="1244010"/>
            <a:ext cx="9849751" cy="4691072"/>
          </a:xfrm>
        </p:spPr>
        <p:txBody>
          <a:bodyPr anchor="t">
            <a:normAutofit/>
          </a:bodyPr>
          <a:lstStyle/>
          <a:p>
            <a:pPr marL="0" indent="0" algn="just">
              <a:buNone/>
            </a:pPr>
            <a:r>
              <a:rPr lang="es-ES" sz="3600" b="1" dirty="0"/>
              <a:t>Estándares </a:t>
            </a:r>
            <a:r>
              <a:rPr lang="es-ES" sz="3600" b="1" dirty="0" err="1"/>
              <a:t>Kaizen</a:t>
            </a:r>
            <a:endParaRPr lang="es-ES" sz="3600" b="1" dirty="0"/>
          </a:p>
          <a:p>
            <a:pPr marL="0" indent="0" algn="just">
              <a:buNone/>
            </a:pPr>
            <a:r>
              <a:rPr lang="es-ES" sz="3600" dirty="0"/>
              <a:t>Otro tipo de estándar conocido como </a:t>
            </a:r>
            <a:r>
              <a:rPr lang="es-ES" sz="3600" dirty="0" err="1"/>
              <a:t>kaizen</a:t>
            </a:r>
            <a:r>
              <a:rPr lang="es-ES" sz="3600" dirty="0"/>
              <a:t> también es posible.</a:t>
            </a:r>
            <a:endParaRPr lang="es-ES" sz="3600" b="1" dirty="0"/>
          </a:p>
        </p:txBody>
      </p:sp>
      <p:pic>
        <p:nvPicPr>
          <p:cNvPr id="5" name="Picture 8" descr="ADMISIÓN UNISON">
            <a:extLst>
              <a:ext uri="{FF2B5EF4-FFF2-40B4-BE49-F238E27FC236}">
                <a16:creationId xmlns:a16="http://schemas.microsoft.com/office/drawing/2014/main" id="{1277C35B-B290-E3F6-42A3-228B92FE06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Qué es Kaizen?">
            <a:extLst>
              <a:ext uri="{FF2B5EF4-FFF2-40B4-BE49-F238E27FC236}">
                <a16:creationId xmlns:a16="http://schemas.microsoft.com/office/drawing/2014/main" id="{7FAF4302-1854-018F-763F-EBC7A901F2E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37762" y="2804512"/>
            <a:ext cx="7352834" cy="3676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0025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3B93B7-0BDA-E473-7E6D-B617A3B71AF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A8269C-3F84-C95C-75E5-205FD8673C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518C46E-F1F2-C192-F1AD-B29E4C27B3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709F20A9-E7C2-8928-6C5D-E6AB0E350C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038AC48-D730-606E-3FB4-4E1B9D114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D8B51B36-FC6A-6D19-6DF8-AD545B425A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91685A9-7A9A-E7A9-0E3D-251701660677}"/>
              </a:ext>
            </a:extLst>
          </p:cNvPr>
          <p:cNvSpPr>
            <a:spLocks noGrp="1"/>
          </p:cNvSpPr>
          <p:nvPr>
            <p:ph idx="1"/>
          </p:nvPr>
        </p:nvSpPr>
        <p:spPr>
          <a:xfrm>
            <a:off x="1289304" y="1244010"/>
            <a:ext cx="9849751" cy="4691072"/>
          </a:xfrm>
        </p:spPr>
        <p:txBody>
          <a:bodyPr anchor="ctr">
            <a:normAutofit/>
          </a:bodyPr>
          <a:lstStyle/>
          <a:p>
            <a:pPr marL="0" indent="0" algn="just">
              <a:buNone/>
            </a:pPr>
            <a:r>
              <a:rPr lang="es-ES" sz="3600" dirty="0"/>
              <a:t>En el idioma Japonés:</a:t>
            </a:r>
          </a:p>
          <a:p>
            <a:pPr marL="0" indent="0" algn="just">
              <a:buNone/>
            </a:pPr>
            <a:endParaRPr lang="es-ES" sz="3600" dirty="0"/>
          </a:p>
          <a:p>
            <a:pPr marL="0" indent="0" algn="ctr">
              <a:buNone/>
            </a:pPr>
            <a:r>
              <a:rPr lang="es-ES" sz="3600" dirty="0" err="1"/>
              <a:t>Kaizen</a:t>
            </a:r>
            <a:r>
              <a:rPr lang="es-ES" sz="3600" dirty="0"/>
              <a:t> (</a:t>
            </a:r>
            <a:r>
              <a:rPr lang="es-ES" sz="3600" dirty="0" err="1">
                <a:hlinkClick r:id="rId2"/>
              </a:rPr>
              <a:t>改善</a:t>
            </a:r>
            <a:r>
              <a:rPr lang="es-ES" sz="3600" dirty="0"/>
              <a:t>) significa </a:t>
            </a:r>
            <a:r>
              <a:rPr lang="es-ES" sz="3600" b="1" dirty="0"/>
              <a:t>mejorar</a:t>
            </a:r>
            <a:r>
              <a:rPr lang="es-ES" sz="3600" dirty="0"/>
              <a:t> o </a:t>
            </a:r>
            <a:r>
              <a:rPr lang="es-ES" sz="3600" b="1" dirty="0"/>
              <a:t>cambiar para mejor</a:t>
            </a:r>
            <a:r>
              <a:rPr lang="es-ES" sz="3600" dirty="0"/>
              <a:t>.</a:t>
            </a:r>
            <a:endParaRPr lang="es-ES" sz="4400" dirty="0"/>
          </a:p>
        </p:txBody>
      </p:sp>
      <p:pic>
        <p:nvPicPr>
          <p:cNvPr id="5" name="Picture 8" descr="ADMISIÓN UNISON">
            <a:extLst>
              <a:ext uri="{FF2B5EF4-FFF2-40B4-BE49-F238E27FC236}">
                <a16:creationId xmlns:a16="http://schemas.microsoft.com/office/drawing/2014/main" id="{F8F0755B-CCE6-52E6-0EAD-28D1922364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6830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CDA6CB-04A2-4834-CB0C-43C8EEC5F37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05D55C-5F35-255C-42B2-DE728F1A7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4C46AE7-8EC2-FBB5-5043-1635C4C6CF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17FC445D-D348-A2E4-48C3-2BE1779BE3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CF39DB-4502-792C-6103-A8707B02A9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197CDD8-BCE6-ADD9-E940-B737EFAF50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4675C6F-B156-E5D5-2A0C-A63F5AB9B017}"/>
              </a:ext>
            </a:extLst>
          </p:cNvPr>
          <p:cNvSpPr>
            <a:spLocks noGrp="1"/>
          </p:cNvSpPr>
          <p:nvPr>
            <p:ph idx="1"/>
          </p:nvPr>
        </p:nvSpPr>
        <p:spPr>
          <a:xfrm>
            <a:off x="1289304" y="1244010"/>
            <a:ext cx="9849751" cy="4691072"/>
          </a:xfrm>
        </p:spPr>
        <p:txBody>
          <a:bodyPr anchor="ctr">
            <a:normAutofit/>
          </a:bodyPr>
          <a:lstStyle/>
          <a:p>
            <a:pPr marL="0" indent="0" algn="just">
              <a:buNone/>
            </a:pPr>
            <a:r>
              <a:rPr lang="es-ES" sz="3600" dirty="0"/>
              <a:t>Los estándares </a:t>
            </a:r>
            <a:r>
              <a:rPr lang="es-ES" sz="3600" dirty="0" err="1"/>
              <a:t>kaizen</a:t>
            </a:r>
            <a:r>
              <a:rPr lang="es-ES" sz="3600" dirty="0"/>
              <a:t> son normas de mejora continua. Reflejan una mejora planeada y son un tipo de estándar en la actualidad alcanzable. </a:t>
            </a:r>
          </a:p>
        </p:txBody>
      </p:sp>
      <p:pic>
        <p:nvPicPr>
          <p:cNvPr id="5" name="Picture 8" descr="ADMISIÓN UNISON">
            <a:extLst>
              <a:ext uri="{FF2B5EF4-FFF2-40B4-BE49-F238E27FC236}">
                <a16:creationId xmlns:a16="http://schemas.microsoft.com/office/drawing/2014/main" id="{AD96EFCA-6393-4E38-243B-BECC35F1EA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5677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52B5DB-C3EB-083E-5B6F-558841DCD4D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1FA3D0F-FA81-9BA3-4D16-E1E29F669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6D0B257-7130-A469-2E01-9B006A6DFA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955E7355-C7CF-F53E-0C2F-E01813306F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14FFADA-660F-60EF-96D5-E8C822B0A1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2A3EB49E-4851-D731-A1B9-72414363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4B7149E-A785-C98D-2BEB-2F97955B6516}"/>
              </a:ext>
            </a:extLst>
          </p:cNvPr>
          <p:cNvSpPr>
            <a:spLocks noGrp="1"/>
          </p:cNvSpPr>
          <p:nvPr>
            <p:ph idx="1"/>
          </p:nvPr>
        </p:nvSpPr>
        <p:spPr>
          <a:xfrm>
            <a:off x="1289304" y="1244010"/>
            <a:ext cx="9849751" cy="4691072"/>
          </a:xfrm>
        </p:spPr>
        <p:txBody>
          <a:bodyPr anchor="ctr">
            <a:normAutofit/>
          </a:bodyPr>
          <a:lstStyle/>
          <a:p>
            <a:pPr marL="0" indent="0" algn="just">
              <a:buNone/>
            </a:pPr>
            <a:r>
              <a:rPr lang="es-ES" sz="3600" dirty="0"/>
              <a:t>Por su misma naturaleza, se concentran en la reducción de los costos y debido a su énfasis en la mejora continua cambian de manera constante (son dinámicos).</a:t>
            </a:r>
          </a:p>
        </p:txBody>
      </p:sp>
      <p:pic>
        <p:nvPicPr>
          <p:cNvPr id="5" name="Picture 8" descr="ADMISIÓN UNISON">
            <a:extLst>
              <a:ext uri="{FF2B5EF4-FFF2-40B4-BE49-F238E27FC236}">
                <a16:creationId xmlns:a16="http://schemas.microsoft.com/office/drawing/2014/main" id="{389FC0BA-06FB-932F-8880-9D7791224B3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167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532DDE-0AC5-0DA3-79C5-9FFE7763FA2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CDF3528-E618-D6E0-4395-E95918B19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905B224-361C-EE73-6616-B61EAA3A18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36764F40-6F4C-5994-584D-E9AB7B2F89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CB172E-A337-6363-1B0C-EA2F3E6E5B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907C0399-E67C-2119-A05A-7F494020A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807043B-C06F-C1D4-4A5A-F5B1BF9EB81B}"/>
              </a:ext>
            </a:extLst>
          </p:cNvPr>
          <p:cNvSpPr>
            <a:spLocks noGrp="1"/>
          </p:cNvSpPr>
          <p:nvPr>
            <p:ph idx="1"/>
          </p:nvPr>
        </p:nvSpPr>
        <p:spPr>
          <a:xfrm>
            <a:off x="1289304" y="1244010"/>
            <a:ext cx="9849751" cy="4691072"/>
          </a:xfrm>
        </p:spPr>
        <p:txBody>
          <a:bodyPr anchor="ctr">
            <a:normAutofit/>
          </a:bodyPr>
          <a:lstStyle/>
          <a:p>
            <a:pPr marL="0" indent="0" algn="just">
              <a:buNone/>
            </a:pPr>
            <a:r>
              <a:rPr lang="es-ES" sz="3600" b="1" dirty="0"/>
              <a:t>Estándares y costeo basado en actividades</a:t>
            </a:r>
          </a:p>
          <a:p>
            <a:pPr marL="0" indent="0" algn="just">
              <a:buNone/>
            </a:pPr>
            <a:endParaRPr lang="es-ES" sz="3600" dirty="0"/>
          </a:p>
          <a:p>
            <a:pPr marL="0" indent="0" algn="just">
              <a:buNone/>
            </a:pPr>
            <a:r>
              <a:rPr lang="es-ES" sz="3600" dirty="0"/>
              <a:t>Los estándares también desempeñan un papel de importancia en los sistemas basados en actividades. El costo de una actividad se determina por el monto de recursos consumidos por cada actividad. </a:t>
            </a:r>
          </a:p>
        </p:txBody>
      </p:sp>
      <p:pic>
        <p:nvPicPr>
          <p:cNvPr id="5" name="Picture 8" descr="ADMISIÓN UNISON">
            <a:extLst>
              <a:ext uri="{FF2B5EF4-FFF2-40B4-BE49-F238E27FC236}">
                <a16:creationId xmlns:a16="http://schemas.microsoft.com/office/drawing/2014/main" id="{C8241B91-B4F6-1325-0D75-F9720E7815E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7328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BFE380-8172-592F-AE3E-D0F9AC409D4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F5AF459-684E-D5DD-F153-41ED1F94B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3D2E5F5E-264D-CC6D-D13E-C8E63DAC9CA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7B24306A-0EB8-514A-85E7-5BB299B921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9AFE57-A725-70BE-2F71-9F4C6EE77E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01E09B92-9C06-CA34-7D26-6FF88F4CBD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8DAE7CB-B700-1D69-7DB4-8B22BA3B8BBB}"/>
              </a:ext>
            </a:extLst>
          </p:cNvPr>
          <p:cNvSpPr>
            <a:spLocks noGrp="1"/>
          </p:cNvSpPr>
          <p:nvPr>
            <p:ph idx="1"/>
          </p:nvPr>
        </p:nvSpPr>
        <p:spPr>
          <a:xfrm>
            <a:off x="1289304" y="1244010"/>
            <a:ext cx="9849751" cy="4691072"/>
          </a:xfrm>
        </p:spPr>
        <p:txBody>
          <a:bodyPr anchor="ctr">
            <a:normAutofit/>
          </a:bodyPr>
          <a:lstStyle/>
          <a:p>
            <a:pPr marL="0" indent="0" algn="just">
              <a:buNone/>
            </a:pPr>
            <a:r>
              <a:rPr lang="es-ES" sz="3600" dirty="0"/>
              <a:t>Para no tener que medir continuamente la cantidad de consumo de recursos para cientos de actividades, se identifican patrones estándar de consumo basados en la experiencia histórica. En este caso el propósito de los estándares es facilitar las asignaciones de costos</a:t>
            </a:r>
          </a:p>
        </p:txBody>
      </p:sp>
      <p:pic>
        <p:nvPicPr>
          <p:cNvPr id="5" name="Picture 8" descr="ADMISIÓN UNISON">
            <a:extLst>
              <a:ext uri="{FF2B5EF4-FFF2-40B4-BE49-F238E27FC236}">
                <a16:creationId xmlns:a16="http://schemas.microsoft.com/office/drawing/2014/main" id="{F00334CE-C320-12D8-873F-11A59E943DB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5338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365339-FFDE-E475-0AFD-86F0FDC7A82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2513D9-270C-8784-708A-D031542E3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C362050-FA84-0357-8F27-58711C1635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D2D3D8C6-D087-3F76-7AAF-E879C548F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E0CA81-BFD3-4AE4-5801-C4A3E7E67F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74F59B2F-DAD6-2457-BF23-B902E3E716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DB889BD-5AB8-7E51-457F-C1282FB7D084}"/>
              </a:ext>
            </a:extLst>
          </p:cNvPr>
          <p:cNvSpPr>
            <a:spLocks noGrp="1"/>
          </p:cNvSpPr>
          <p:nvPr>
            <p:ph idx="1"/>
          </p:nvPr>
        </p:nvSpPr>
        <p:spPr>
          <a:xfrm>
            <a:off x="1289304" y="1244010"/>
            <a:ext cx="9849751" cy="4691072"/>
          </a:xfrm>
        </p:spPr>
        <p:txBody>
          <a:bodyPr anchor="ctr">
            <a:normAutofit/>
          </a:bodyPr>
          <a:lstStyle/>
          <a:p>
            <a:pPr marL="0" indent="0" algn="ctr">
              <a:buNone/>
            </a:pPr>
            <a:r>
              <a:rPr lang="es-ES" sz="3600" b="1" dirty="0"/>
              <a:t>Uso de los sistemas de costeo estándar</a:t>
            </a:r>
          </a:p>
          <a:p>
            <a:pPr marL="0" indent="0" algn="just">
              <a:buNone/>
            </a:pPr>
            <a:endParaRPr lang="es-ES" sz="3600" dirty="0"/>
          </a:p>
          <a:p>
            <a:pPr marL="0" indent="0" algn="just">
              <a:buNone/>
            </a:pPr>
            <a:r>
              <a:rPr lang="es-ES" sz="3600" dirty="0"/>
              <a:t>Varias son las razones para adoptar un sistema de costeo estándar: </a:t>
            </a:r>
          </a:p>
          <a:p>
            <a:pPr algn="just"/>
            <a:r>
              <a:rPr lang="es-ES" sz="3600" dirty="0"/>
              <a:t>Administración de costos</a:t>
            </a:r>
          </a:p>
          <a:p>
            <a:pPr algn="just"/>
            <a:r>
              <a:rPr lang="es-ES" sz="3600" dirty="0"/>
              <a:t>Mejoramiento de la planeación y del control</a:t>
            </a:r>
          </a:p>
          <a:p>
            <a:pPr algn="just"/>
            <a:r>
              <a:rPr lang="es-ES" sz="3600" dirty="0"/>
              <a:t>Facilitación de la toma de decisiones y del costeo de los productos</a:t>
            </a:r>
          </a:p>
        </p:txBody>
      </p:sp>
      <p:pic>
        <p:nvPicPr>
          <p:cNvPr id="5" name="Picture 8" descr="ADMISIÓN UNISON">
            <a:extLst>
              <a:ext uri="{FF2B5EF4-FFF2-40B4-BE49-F238E27FC236}">
                <a16:creationId xmlns:a16="http://schemas.microsoft.com/office/drawing/2014/main" id="{C31B135B-3E06-1188-A89F-7A08AB958B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3509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65A75F-5AFE-05B0-0E7E-7860F21630D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5549AC-791E-9E77-B765-7B572A807D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70EA575-75D2-9026-7464-7BE0DE5F2C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911F2BDD-14BD-9E9B-30A3-D57822058C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A34DA67-6751-1C03-EE7F-3B0672A7FE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17031468-BAAC-155E-CAFD-72E8122ED4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2AA9BE7-7144-A92F-0227-B58C07DDB961}"/>
              </a:ext>
            </a:extLst>
          </p:cNvPr>
          <p:cNvSpPr>
            <a:spLocks noGrp="1"/>
          </p:cNvSpPr>
          <p:nvPr>
            <p:ph idx="1"/>
          </p:nvPr>
        </p:nvSpPr>
        <p:spPr>
          <a:xfrm>
            <a:off x="1289304" y="1244010"/>
            <a:ext cx="9849751" cy="4691072"/>
          </a:xfrm>
        </p:spPr>
        <p:txBody>
          <a:bodyPr anchor="ctr">
            <a:normAutofit/>
          </a:bodyPr>
          <a:lstStyle/>
          <a:p>
            <a:pPr algn="just"/>
            <a:r>
              <a:rPr lang="es-ES" sz="3600" dirty="0"/>
              <a:t>Administración de costos</a:t>
            </a:r>
          </a:p>
          <a:p>
            <a:pPr marL="0" indent="0" algn="just">
              <a:buNone/>
            </a:pPr>
            <a:r>
              <a:rPr lang="es-ES" sz="3600" dirty="0"/>
              <a:t>El costeo estándar permite a los gerentes administrar los costos mediante el establecimiento de estándares que reflejen condiciones operativas eficientes. Los estándares también son de gran ayuda para entender qué es lo que necesita hacerse para mejorar el desempeño actual y futuro.</a:t>
            </a:r>
          </a:p>
        </p:txBody>
      </p:sp>
      <p:pic>
        <p:nvPicPr>
          <p:cNvPr id="5" name="Picture 8" descr="ADMISIÓN UNISON">
            <a:extLst>
              <a:ext uri="{FF2B5EF4-FFF2-40B4-BE49-F238E27FC236}">
                <a16:creationId xmlns:a16="http://schemas.microsoft.com/office/drawing/2014/main" id="{0052E0E1-636D-00CF-0973-F5F93EE7863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356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F76AF3-5911-E204-08A3-F6203FA3819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F8261E3-9A59-1994-1DA0-F6F00D846A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2728F1B-9F45-73C2-C8C4-F288BAE140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824824F4-CCD7-8E05-7089-352EE8D6E3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2985B9A-12A5-6645-2329-D84E0572F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84C9208-27D7-F717-8015-B37EE19ECC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D986377-6523-2C2F-0C41-EC65FCFF4907}"/>
              </a:ext>
            </a:extLst>
          </p:cNvPr>
          <p:cNvSpPr>
            <a:spLocks noGrp="1"/>
          </p:cNvSpPr>
          <p:nvPr>
            <p:ph idx="1"/>
          </p:nvPr>
        </p:nvSpPr>
        <p:spPr>
          <a:xfrm>
            <a:off x="1289304" y="1244010"/>
            <a:ext cx="9849751" cy="4691072"/>
          </a:xfrm>
        </p:spPr>
        <p:txBody>
          <a:bodyPr anchor="ctr">
            <a:normAutofit/>
          </a:bodyPr>
          <a:lstStyle/>
          <a:p>
            <a:pPr algn="just"/>
            <a:r>
              <a:rPr lang="es-ES" sz="3600" dirty="0"/>
              <a:t>Planeación y control</a:t>
            </a:r>
          </a:p>
          <a:p>
            <a:pPr marL="0" indent="0" algn="just">
              <a:buNone/>
            </a:pPr>
            <a:r>
              <a:rPr lang="es-ES" sz="3600" dirty="0"/>
              <a:t>Los sistemas de costeo estándar mejoran la planeación y el control así como la medición del desempeño. Los estándares unitarios son un requerimiento fundamental de un sistema de presupuestos flexible, lo cual es una característica clave de un sistema significativo de planeación y control.</a:t>
            </a:r>
          </a:p>
        </p:txBody>
      </p:sp>
      <p:pic>
        <p:nvPicPr>
          <p:cNvPr id="5" name="Picture 8" descr="ADMISIÓN UNISON">
            <a:extLst>
              <a:ext uri="{FF2B5EF4-FFF2-40B4-BE49-F238E27FC236}">
                <a16:creationId xmlns:a16="http://schemas.microsoft.com/office/drawing/2014/main" id="{DB904FB7-DB79-B3AF-D3CD-39D63E7F50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4272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0D65F8-6264-9010-A116-0A7F692DD01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D09D46B-1444-26DE-47AA-3D9FF0863D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E0A8D4C-7B41-6E82-7179-3676F9778C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8DCDF97D-A612-C8CD-F721-6E9FEDB94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E2E915D-9B46-20A6-9C70-DE16F22E8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3F5B9701-5A2A-36B6-557C-F3C421B3A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39CAEBD-37FA-DB8C-D220-64501DB93909}"/>
              </a:ext>
            </a:extLst>
          </p:cNvPr>
          <p:cNvSpPr>
            <a:spLocks noGrp="1"/>
          </p:cNvSpPr>
          <p:nvPr>
            <p:ph idx="1"/>
          </p:nvPr>
        </p:nvSpPr>
        <p:spPr>
          <a:xfrm>
            <a:off x="1289304" y="1244010"/>
            <a:ext cx="9849751" cy="4691072"/>
          </a:xfrm>
        </p:spPr>
        <p:txBody>
          <a:bodyPr anchor="ctr">
            <a:normAutofit/>
          </a:bodyPr>
          <a:lstStyle/>
          <a:p>
            <a:pPr algn="just"/>
            <a:r>
              <a:rPr lang="es-ES" sz="3600" dirty="0"/>
              <a:t>Toma de decisiones y costeo de productos</a:t>
            </a:r>
          </a:p>
          <a:p>
            <a:pPr marL="0" indent="0" algn="just">
              <a:buNone/>
            </a:pPr>
            <a:r>
              <a:rPr lang="es-ES" sz="3600" dirty="0"/>
              <a:t>Los sistemas de costeo estándar también facilitan la toma de decisiones y el costeo de los productos. Por ejemplo, los sistemas de costeo estándar proporcionan información de costos unitarios fácilmente obtenibles la cual se puede utilizar para las decisiones de fijación de precio.</a:t>
            </a:r>
          </a:p>
        </p:txBody>
      </p:sp>
      <p:pic>
        <p:nvPicPr>
          <p:cNvPr id="5" name="Picture 8" descr="ADMISIÓN UNISON">
            <a:extLst>
              <a:ext uri="{FF2B5EF4-FFF2-40B4-BE49-F238E27FC236}">
                <a16:creationId xmlns:a16="http://schemas.microsoft.com/office/drawing/2014/main" id="{53178AD9-9E4A-EF49-883A-8A445CD4573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2461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9B5F16-95B1-056D-D1B4-E778B3D2C10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78CD-E25E-AAC4-4140-1A6B638D0B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0572B9E9-FFFC-F60D-99D9-4E2A66F2624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126ECB00-AA93-2210-9F82-AC10EAEB3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98315AC-DE69-5516-C2E9-1FBFDC506C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6761BE6-2195-61F3-A310-6F64896C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C814E48-0772-E755-B13A-271523038698}"/>
              </a:ext>
            </a:extLst>
          </p:cNvPr>
          <p:cNvSpPr>
            <a:spLocks noGrp="1"/>
          </p:cNvSpPr>
          <p:nvPr>
            <p:ph type="title"/>
          </p:nvPr>
        </p:nvSpPr>
        <p:spPr>
          <a:xfrm>
            <a:off x="1289304" y="1080048"/>
            <a:ext cx="9849751" cy="1349671"/>
          </a:xfrm>
        </p:spPr>
        <p:txBody>
          <a:bodyPr anchor="ctr">
            <a:normAutofit/>
          </a:bodyPr>
          <a:lstStyle/>
          <a:p>
            <a:r>
              <a:rPr lang="es-MX" sz="5400" dirty="0"/>
              <a:t>Hojas de costo estándar</a:t>
            </a:r>
          </a:p>
        </p:txBody>
      </p:sp>
      <p:sp>
        <p:nvSpPr>
          <p:cNvPr id="3" name="Marcador de contenido 2">
            <a:extLst>
              <a:ext uri="{FF2B5EF4-FFF2-40B4-BE49-F238E27FC236}">
                <a16:creationId xmlns:a16="http://schemas.microsoft.com/office/drawing/2014/main" id="{BBED8060-6283-6CB6-552B-CF350851B9BE}"/>
              </a:ext>
            </a:extLst>
          </p:cNvPr>
          <p:cNvSpPr>
            <a:spLocks noGrp="1"/>
          </p:cNvSpPr>
          <p:nvPr>
            <p:ph idx="1"/>
          </p:nvPr>
        </p:nvSpPr>
        <p:spPr>
          <a:xfrm>
            <a:off x="1289304" y="2586848"/>
            <a:ext cx="9849751" cy="3348233"/>
          </a:xfrm>
        </p:spPr>
        <p:txBody>
          <a:bodyPr anchor="ctr">
            <a:normAutofit/>
          </a:bodyPr>
          <a:lstStyle/>
          <a:p>
            <a:pPr marL="0" indent="0" algn="ctr">
              <a:buNone/>
            </a:pPr>
            <a:r>
              <a:rPr lang="es-ES" sz="3200" dirty="0"/>
              <a:t>La hoja de costo estándar proporciona el detalle que da fundamento al costo estándar unitario.</a:t>
            </a:r>
            <a:endParaRPr lang="es-MX" sz="3200" dirty="0"/>
          </a:p>
        </p:txBody>
      </p:sp>
      <p:pic>
        <p:nvPicPr>
          <p:cNvPr id="5" name="Picture 8" descr="ADMISIÓN UNISON">
            <a:extLst>
              <a:ext uri="{FF2B5EF4-FFF2-40B4-BE49-F238E27FC236}">
                <a16:creationId xmlns:a16="http://schemas.microsoft.com/office/drawing/2014/main" id="{466C183C-27F3-49CE-6745-5DAD16C4CA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2986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2AEDDF-5162-371E-6B3B-BC8795A0D6D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98C3D1F-C8F0-775C-F666-D587AA3F9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3B03656-C9F0-9C85-E0AF-1B4B53364F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1484365B-0C9A-ACB7-5E18-D23DCE2E7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E3F87B-592D-704C-8DEA-116CFA40CA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7B54C079-A862-B643-5A7A-C73F9924B3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8" descr="ADMISIÓN UNISON">
            <a:extLst>
              <a:ext uri="{FF2B5EF4-FFF2-40B4-BE49-F238E27FC236}">
                <a16:creationId xmlns:a16="http://schemas.microsoft.com/office/drawing/2014/main" id="{A526F65F-00FA-008D-5CF3-F339D1F778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pic>
        <p:nvPicPr>
          <p:cNvPr id="15" name="Marcador de contenido 14">
            <a:extLst>
              <a:ext uri="{FF2B5EF4-FFF2-40B4-BE49-F238E27FC236}">
                <a16:creationId xmlns:a16="http://schemas.microsoft.com/office/drawing/2014/main" id="{4A7BA17C-6A51-FC2B-B4AD-0F62FACE9445}"/>
              </a:ext>
            </a:extLst>
          </p:cNvPr>
          <p:cNvPicPr>
            <a:picLocks noGrp="1" noChangeAspect="1"/>
          </p:cNvPicPr>
          <p:nvPr>
            <p:ph idx="1"/>
          </p:nvPr>
        </p:nvPicPr>
        <p:blipFill>
          <a:blip r:embed="rId3"/>
          <a:stretch>
            <a:fillRect/>
          </a:stretch>
        </p:blipFill>
        <p:spPr>
          <a:xfrm>
            <a:off x="589423" y="-1"/>
            <a:ext cx="9656175" cy="6384171"/>
          </a:xfrm>
        </p:spPr>
      </p:pic>
    </p:spTree>
    <p:extLst>
      <p:ext uri="{BB962C8B-B14F-4D97-AF65-F5344CB8AC3E}">
        <p14:creationId xmlns:p14="http://schemas.microsoft.com/office/powerpoint/2010/main" val="2257966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5A527D-3EA4-52B1-6FA2-FF80ACD0662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9F874D-7FE3-6F05-0814-DDF5163CD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57BC968-75D9-421C-E0BE-15A41594C9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50322518-19BE-512A-BD65-D8278A3B1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4C61530-D5D5-BB77-C626-BE85943A42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0AB809A-6335-751E-6F34-F6E553A47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6C4218B-0D1A-0003-ECB4-A8C4F3E98F72}"/>
              </a:ext>
            </a:extLst>
          </p:cNvPr>
          <p:cNvSpPr>
            <a:spLocks noGrp="1"/>
          </p:cNvSpPr>
          <p:nvPr>
            <p:ph idx="1"/>
          </p:nvPr>
        </p:nvSpPr>
        <p:spPr>
          <a:xfrm>
            <a:off x="1289304" y="1244010"/>
            <a:ext cx="9849751" cy="4691072"/>
          </a:xfrm>
        </p:spPr>
        <p:txBody>
          <a:bodyPr anchor="ctr">
            <a:normAutofit/>
          </a:bodyPr>
          <a:lstStyle/>
          <a:p>
            <a:pPr marL="0" indent="0" algn="just">
              <a:buNone/>
            </a:pPr>
            <a:r>
              <a:rPr lang="es-ES" sz="3600" dirty="0"/>
              <a:t>Para la producción real se debe ser capaz de calcular la cantidad estándar de materiales permitida (QS) y las horas estándar permitidas (HS, por sus siglas en inglés).</a:t>
            </a:r>
          </a:p>
        </p:txBody>
      </p:sp>
      <p:pic>
        <p:nvPicPr>
          <p:cNvPr id="5" name="Picture 8" descr="ADMISIÓN UNISON">
            <a:extLst>
              <a:ext uri="{FF2B5EF4-FFF2-40B4-BE49-F238E27FC236}">
                <a16:creationId xmlns:a16="http://schemas.microsoft.com/office/drawing/2014/main" id="{163B96C5-8BFF-4E07-0134-78056BF6934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644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FA93B3-80DD-A42A-4EC7-B65478A1493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1DD75C-D43A-5855-76DD-F8005D5E22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DD62CCB-9E0C-7934-FF89-2069FCD6DB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4B107E20-6DAE-C209-531D-36B18A64F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5E322E5-F285-15EF-4672-A64DE924A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94A2E7DE-4DD2-3B14-41BC-500F7015EF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3F87608-6688-7DF6-AD62-6FFAD59B5841}"/>
              </a:ext>
            </a:extLst>
          </p:cNvPr>
          <p:cNvSpPr>
            <a:spLocks noGrp="1"/>
          </p:cNvSpPr>
          <p:nvPr>
            <p:ph idx="1"/>
          </p:nvPr>
        </p:nvSpPr>
        <p:spPr>
          <a:xfrm>
            <a:off x="1289304" y="1244010"/>
            <a:ext cx="9849751" cy="4691072"/>
          </a:xfrm>
        </p:spPr>
        <p:txBody>
          <a:bodyPr anchor="ctr">
            <a:normAutofit/>
          </a:bodyPr>
          <a:lstStyle/>
          <a:p>
            <a:pPr marL="0" indent="0" algn="ctr">
              <a:buNone/>
            </a:pPr>
            <a:r>
              <a:rPr lang="es-ES" sz="3600" dirty="0"/>
              <a:t>QS = Cantidad estándar unitaria X Producción real</a:t>
            </a:r>
          </a:p>
          <a:p>
            <a:pPr marL="0" indent="0" algn="ctr">
              <a:buNone/>
            </a:pPr>
            <a:endParaRPr lang="es-ES" sz="3600" dirty="0"/>
          </a:p>
          <a:p>
            <a:pPr marL="0" indent="0" algn="ctr">
              <a:buNone/>
            </a:pPr>
            <a:r>
              <a:rPr lang="es-ES" sz="3600" dirty="0"/>
              <a:t>SH = Cantidad estándar unitaria X Producción real</a:t>
            </a:r>
          </a:p>
        </p:txBody>
      </p:sp>
      <p:pic>
        <p:nvPicPr>
          <p:cNvPr id="5" name="Picture 8" descr="ADMISIÓN UNISON">
            <a:extLst>
              <a:ext uri="{FF2B5EF4-FFF2-40B4-BE49-F238E27FC236}">
                <a16:creationId xmlns:a16="http://schemas.microsoft.com/office/drawing/2014/main" id="{4CEDC9AE-D8C8-C55F-26A5-D7EFE5AAD4E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1092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8A92DF-2217-3FF6-ED47-F726C1C30BA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AD5284E-DD0B-9D90-2FFA-060A9EF15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2FAEF1-7DEB-DF8A-785E-F2260E3188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47AC2196-48A2-9E6F-B216-81AA3CA966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1AAC75-94C2-951B-F9E6-80DEF39E6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53ED45B5-CACC-B80E-18C5-15ACEC198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8E5C215-3B5E-9CB5-CFF2-E6AB5E331993}"/>
              </a:ext>
            </a:extLst>
          </p:cNvPr>
          <p:cNvSpPr>
            <a:spLocks noGrp="1"/>
          </p:cNvSpPr>
          <p:nvPr>
            <p:ph idx="1"/>
          </p:nvPr>
        </p:nvSpPr>
        <p:spPr>
          <a:xfrm>
            <a:off x="1289304" y="1244010"/>
            <a:ext cx="9849751" cy="4691072"/>
          </a:xfrm>
        </p:spPr>
        <p:txBody>
          <a:bodyPr anchor="ctr">
            <a:normAutofit fontScale="85000" lnSpcReduction="20000"/>
          </a:bodyPr>
          <a:lstStyle/>
          <a:p>
            <a:pPr marL="0" indent="0">
              <a:buNone/>
            </a:pPr>
            <a:r>
              <a:rPr lang="es-ES" sz="3600" b="1" dirty="0"/>
              <a:t>Ejemplo:</a:t>
            </a:r>
          </a:p>
          <a:p>
            <a:pPr marL="0" indent="0">
              <a:buNone/>
            </a:pPr>
            <a:br>
              <a:rPr lang="es-ES" sz="3600" dirty="0"/>
            </a:br>
            <a:r>
              <a:rPr lang="es-ES" sz="3600" dirty="0"/>
              <a:t>Una empresa produce 1,000 unidades de un producto.</a:t>
            </a:r>
            <a:br>
              <a:rPr lang="es-ES" sz="3600" dirty="0"/>
            </a:br>
            <a:r>
              <a:rPr lang="es-ES" sz="3600" dirty="0"/>
              <a:t>Según los estándares, cada unidad debe usar 2 kg de material A.</a:t>
            </a:r>
          </a:p>
          <a:p>
            <a:pPr marL="0" indent="0">
              <a:buNone/>
            </a:pPr>
            <a:br>
              <a:rPr lang="es-ES" sz="3600" dirty="0"/>
            </a:br>
            <a:r>
              <a:rPr lang="es-ES" sz="3600" dirty="0"/>
              <a:t>QS = 2 kg × 1,000 unidades</a:t>
            </a:r>
            <a:br>
              <a:rPr lang="es-ES" sz="3600" dirty="0"/>
            </a:br>
            <a:r>
              <a:rPr lang="es-ES" sz="3600" dirty="0"/>
              <a:t>QS = 2,000 kg</a:t>
            </a:r>
          </a:p>
          <a:p>
            <a:pPr marL="0" indent="0">
              <a:buNone/>
            </a:pPr>
            <a:endParaRPr lang="es-ES" sz="3600" dirty="0"/>
          </a:p>
          <a:p>
            <a:pPr marL="0" indent="0" algn="ctr">
              <a:buNone/>
            </a:pPr>
            <a:r>
              <a:rPr lang="es-ES" sz="3600" dirty="0"/>
              <a:t>Esto significa que, para la producción real de 1,000 unidades, la cantidad </a:t>
            </a:r>
            <a:r>
              <a:rPr lang="es-ES" sz="3600" i="1" dirty="0"/>
              <a:t>estándar</a:t>
            </a:r>
            <a:r>
              <a:rPr lang="es-ES" sz="3600" dirty="0"/>
              <a:t> que debería haberse usado son 2,000 kg de material A.</a:t>
            </a:r>
          </a:p>
        </p:txBody>
      </p:sp>
      <p:pic>
        <p:nvPicPr>
          <p:cNvPr id="5" name="Picture 8" descr="ADMISIÓN UNISON">
            <a:extLst>
              <a:ext uri="{FF2B5EF4-FFF2-40B4-BE49-F238E27FC236}">
                <a16:creationId xmlns:a16="http://schemas.microsoft.com/office/drawing/2014/main" id="{6C92BD71-9164-CD53-24C0-57040AC8C97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5345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B38A91-56F7-30D7-0180-A56DFFC351E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01DAE7-E552-C35A-D02B-73C58C9D29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9C2EB0D-8EA1-FC1D-A5A2-3EA5F77928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3284096-2AEF-3D42-8A07-966612B76B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20FCD22-9927-9ED9-78C9-A4BE769888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D2D9495D-4EE6-AEBC-970E-295FA979F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E0B1F23-7D8F-6459-F13A-25ED828FE2B8}"/>
              </a:ext>
            </a:extLst>
          </p:cNvPr>
          <p:cNvSpPr>
            <a:spLocks noGrp="1"/>
          </p:cNvSpPr>
          <p:nvPr>
            <p:ph idx="1"/>
          </p:nvPr>
        </p:nvSpPr>
        <p:spPr>
          <a:xfrm>
            <a:off x="1289304" y="1244010"/>
            <a:ext cx="9849751" cy="4691072"/>
          </a:xfrm>
        </p:spPr>
        <p:txBody>
          <a:bodyPr anchor="ctr">
            <a:normAutofit fontScale="92500" lnSpcReduction="10000"/>
          </a:bodyPr>
          <a:lstStyle/>
          <a:p>
            <a:pPr marL="0" indent="0">
              <a:buNone/>
            </a:pPr>
            <a:r>
              <a:rPr lang="es-ES" sz="3600" dirty="0"/>
              <a:t>La empresa estima que cada producto debe fabricarse en 1.5 horas.</a:t>
            </a:r>
            <a:br>
              <a:rPr lang="es-ES" sz="3600" dirty="0"/>
            </a:br>
            <a:r>
              <a:rPr lang="es-ES" sz="3600" dirty="0"/>
              <a:t>La producción real fue de 800 unidades.</a:t>
            </a:r>
          </a:p>
          <a:p>
            <a:pPr marL="0" indent="0">
              <a:buNone/>
            </a:pPr>
            <a:br>
              <a:rPr lang="es-ES" sz="3600" dirty="0"/>
            </a:br>
            <a:r>
              <a:rPr lang="es-ES" sz="3600" dirty="0"/>
              <a:t>SH = 1.5 × 800</a:t>
            </a:r>
            <a:br>
              <a:rPr lang="es-ES" sz="3600" dirty="0"/>
            </a:br>
            <a:r>
              <a:rPr lang="es-ES" sz="3600" dirty="0"/>
              <a:t>SH = 1,200 horas estándar</a:t>
            </a:r>
          </a:p>
          <a:p>
            <a:pPr marL="0" indent="0">
              <a:buNone/>
            </a:pPr>
            <a:endParaRPr lang="es-ES" sz="3600" dirty="0"/>
          </a:p>
          <a:p>
            <a:pPr marL="0" indent="0">
              <a:buNone/>
            </a:pPr>
            <a:r>
              <a:rPr lang="es-ES" sz="3600" dirty="0"/>
              <a:t>Estas son las horas que se </a:t>
            </a:r>
            <a:r>
              <a:rPr lang="es-ES" sz="3600" i="1" dirty="0"/>
              <a:t>debieron</a:t>
            </a:r>
            <a:r>
              <a:rPr lang="es-ES" sz="3600" dirty="0"/>
              <a:t> haber utilizado para fabricar las 800 unidades si se trabajó según el estándar.</a:t>
            </a:r>
          </a:p>
        </p:txBody>
      </p:sp>
      <p:pic>
        <p:nvPicPr>
          <p:cNvPr id="5" name="Picture 8" descr="ADMISIÓN UNISON">
            <a:extLst>
              <a:ext uri="{FF2B5EF4-FFF2-40B4-BE49-F238E27FC236}">
                <a16:creationId xmlns:a16="http://schemas.microsoft.com/office/drawing/2014/main" id="{5F01E235-845E-3FD3-35E9-34F04BFB7E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77646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2A43AC-557C-74AE-9171-AA19B73929C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3FF0E7-D5D5-3153-11DF-90FCCC5722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3F592A-2271-75D9-83DD-6F98A0C362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9C81B92F-0A39-EB35-D152-94096CB52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808D76D-8F5A-BB5B-0D2E-D05A4BC49C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1E9B7E6-253E-C528-B662-3E10D44C23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FE2FAB9-54EE-4569-1810-E24EE2D65EE0}"/>
              </a:ext>
            </a:extLst>
          </p:cNvPr>
          <p:cNvSpPr>
            <a:spLocks noGrp="1"/>
          </p:cNvSpPr>
          <p:nvPr>
            <p:ph type="title"/>
          </p:nvPr>
        </p:nvSpPr>
        <p:spPr>
          <a:xfrm>
            <a:off x="1289304" y="1080048"/>
            <a:ext cx="9849751" cy="2120352"/>
          </a:xfrm>
        </p:spPr>
        <p:txBody>
          <a:bodyPr anchor="ctr">
            <a:noAutofit/>
          </a:bodyPr>
          <a:lstStyle/>
          <a:p>
            <a:pPr algn="ctr"/>
            <a:r>
              <a:rPr lang="es-ES" b="1" dirty="0"/>
              <a:t>Análisis de variaciones y contabilidad:</a:t>
            </a:r>
            <a:br>
              <a:rPr lang="es-ES" b="1" dirty="0"/>
            </a:br>
            <a:r>
              <a:rPr lang="es-ES" b="1" dirty="0"/>
              <a:t>materiales directos y mano de obra directa</a:t>
            </a:r>
            <a:endParaRPr lang="es-MX" b="1" dirty="0"/>
          </a:p>
        </p:txBody>
      </p:sp>
      <p:sp>
        <p:nvSpPr>
          <p:cNvPr id="3" name="Marcador de contenido 2">
            <a:extLst>
              <a:ext uri="{FF2B5EF4-FFF2-40B4-BE49-F238E27FC236}">
                <a16:creationId xmlns:a16="http://schemas.microsoft.com/office/drawing/2014/main" id="{7D4E311C-BFA5-B164-9CE7-0AD3636A509E}"/>
              </a:ext>
            </a:extLst>
          </p:cNvPr>
          <p:cNvSpPr>
            <a:spLocks noGrp="1"/>
          </p:cNvSpPr>
          <p:nvPr>
            <p:ph idx="1"/>
          </p:nvPr>
        </p:nvSpPr>
        <p:spPr>
          <a:xfrm>
            <a:off x="1289304" y="3357530"/>
            <a:ext cx="9849751" cy="2577552"/>
          </a:xfrm>
        </p:spPr>
        <p:txBody>
          <a:bodyPr anchor="ctr">
            <a:normAutofit/>
          </a:bodyPr>
          <a:lstStyle/>
          <a:p>
            <a:pPr marL="0" indent="0" algn="ctr">
              <a:buNone/>
            </a:pPr>
            <a:r>
              <a:rPr lang="es-ES" sz="3200" dirty="0"/>
              <a:t>La variación total del presupuesto es la diferencia entre el costo real del insumo y su costo planeado.</a:t>
            </a:r>
          </a:p>
        </p:txBody>
      </p:sp>
      <p:pic>
        <p:nvPicPr>
          <p:cNvPr id="5" name="Picture 8" descr="ADMISIÓN UNISON">
            <a:extLst>
              <a:ext uri="{FF2B5EF4-FFF2-40B4-BE49-F238E27FC236}">
                <a16:creationId xmlns:a16="http://schemas.microsoft.com/office/drawing/2014/main" id="{19FCEC25-9CE1-D0AC-8D3A-AB9FED5401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55682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241F24-4803-DB5F-EA34-923B7F2C49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265042C-2C07-D4A2-68D6-3B3558A649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509BFC2-60B3-935C-15B6-6DF0E52CEE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7107312D-906F-C751-CB67-A727B36F46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DFBB521-861C-CAC0-2659-582ADBD433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679AAF59-D9F1-8E52-10BD-3639AB7A82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36D17FA-D037-5EF1-8A9B-7556A9359D81}"/>
              </a:ext>
            </a:extLst>
          </p:cNvPr>
          <p:cNvSpPr>
            <a:spLocks noGrp="1"/>
          </p:cNvSpPr>
          <p:nvPr>
            <p:ph idx="1"/>
          </p:nvPr>
        </p:nvSpPr>
        <p:spPr>
          <a:xfrm>
            <a:off x="1289304" y="1244010"/>
            <a:ext cx="9849751" cy="4691072"/>
          </a:xfrm>
        </p:spPr>
        <p:txBody>
          <a:bodyPr anchor="ctr">
            <a:normAutofit/>
          </a:bodyPr>
          <a:lstStyle/>
          <a:p>
            <a:pPr marL="0" indent="0" algn="ctr">
              <a:buNone/>
            </a:pPr>
            <a:r>
              <a:rPr lang="es-ES" sz="3600" dirty="0"/>
              <a:t>Variación total del presupuesto = </a:t>
            </a:r>
          </a:p>
          <a:p>
            <a:pPr marL="0" indent="0" algn="ctr">
              <a:buNone/>
            </a:pPr>
            <a:r>
              <a:rPr lang="es-ES" sz="3600" dirty="0"/>
              <a:t>(PR X QR) – (PS X QS)</a:t>
            </a:r>
          </a:p>
          <a:p>
            <a:pPr marL="0" indent="0" algn="ctr">
              <a:buNone/>
            </a:pPr>
            <a:endParaRPr lang="es-ES" sz="3600" dirty="0"/>
          </a:p>
          <a:p>
            <a:pPr marL="0" indent="0">
              <a:buNone/>
            </a:pPr>
            <a:r>
              <a:rPr lang="es-ES" sz="3600" dirty="0"/>
              <a:t>PR= costo real del insumo</a:t>
            </a:r>
          </a:p>
          <a:p>
            <a:pPr marL="0" indent="0">
              <a:buNone/>
            </a:pPr>
            <a:r>
              <a:rPr lang="es-ES" sz="3600" dirty="0"/>
              <a:t>QR= cantidad real por unidad de insumo</a:t>
            </a:r>
          </a:p>
          <a:p>
            <a:pPr marL="0" indent="0">
              <a:buNone/>
            </a:pPr>
            <a:r>
              <a:rPr lang="es-ES" sz="3600" dirty="0"/>
              <a:t>PS= precio estándar por unidad de un insumo</a:t>
            </a:r>
          </a:p>
          <a:p>
            <a:pPr marL="0" indent="0">
              <a:buNone/>
            </a:pPr>
            <a:r>
              <a:rPr lang="es-ES" sz="3600" dirty="0"/>
              <a:t>QS= cantidad estándar de insumos permitidos</a:t>
            </a:r>
          </a:p>
        </p:txBody>
      </p:sp>
      <p:pic>
        <p:nvPicPr>
          <p:cNvPr id="5" name="Picture 8" descr="ADMISIÓN UNISON">
            <a:extLst>
              <a:ext uri="{FF2B5EF4-FFF2-40B4-BE49-F238E27FC236}">
                <a16:creationId xmlns:a16="http://schemas.microsoft.com/office/drawing/2014/main" id="{88EDBD53-7C37-0CB6-C9A2-DC65F86883E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5167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DAA3EC-9D4A-A562-26AD-0F66AF4A100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556A768-AB7C-48E5-EF5B-4D6040156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7DC9F5-9908-8A34-BB35-47937E28F6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FDAC5E63-CB95-729F-114B-F5BE5644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16AA488-FA73-E9F9-C475-C269841B1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3335AA9-3F6C-D938-A246-B7A1463711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4074BF7-181B-2193-FB52-195A20DE8C8B}"/>
              </a:ext>
            </a:extLst>
          </p:cNvPr>
          <p:cNvSpPr>
            <a:spLocks noGrp="1"/>
          </p:cNvSpPr>
          <p:nvPr>
            <p:ph idx="1"/>
          </p:nvPr>
        </p:nvSpPr>
        <p:spPr>
          <a:xfrm>
            <a:off x="1289304" y="1244010"/>
            <a:ext cx="9849751" cy="4691072"/>
          </a:xfrm>
        </p:spPr>
        <p:txBody>
          <a:bodyPr anchor="ctr">
            <a:normAutofit/>
          </a:bodyPr>
          <a:lstStyle/>
          <a:p>
            <a:pPr marL="0" indent="0" algn="ctr">
              <a:buNone/>
            </a:pPr>
            <a:r>
              <a:rPr lang="es-ES" sz="3600" dirty="0"/>
              <a:t>La variación total del presupuesto mide la diferencia entre el costo real de los materiales directos y de la mano de obra directa y sus costos presupuestados con base en el nivel de actividad real.</a:t>
            </a:r>
          </a:p>
        </p:txBody>
      </p:sp>
      <p:pic>
        <p:nvPicPr>
          <p:cNvPr id="5" name="Picture 8" descr="ADMISIÓN UNISON">
            <a:extLst>
              <a:ext uri="{FF2B5EF4-FFF2-40B4-BE49-F238E27FC236}">
                <a16:creationId xmlns:a16="http://schemas.microsoft.com/office/drawing/2014/main" id="{23F879DB-D2CB-F924-76F3-F8033B56F14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13231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20F146-9462-169F-EBD0-0B62446C3C8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E6FA48-7110-CBDA-633C-707F9D40D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73BB12AF-ED42-5BBC-D421-6A0CAEE0CD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0C64707-44D6-39CC-13C7-7FEC0F95D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3A92AB-840A-177C-8422-FFCF4F3745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D1A434F5-D2C6-6827-798A-E832961BB0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3B8A1EF-A1DA-514A-521E-A22CA46892CA}"/>
              </a:ext>
            </a:extLst>
          </p:cNvPr>
          <p:cNvSpPr>
            <a:spLocks noGrp="1"/>
          </p:cNvSpPr>
          <p:nvPr>
            <p:ph idx="1"/>
          </p:nvPr>
        </p:nvSpPr>
        <p:spPr>
          <a:xfrm>
            <a:off x="1289304" y="1244010"/>
            <a:ext cx="9849751" cy="4691072"/>
          </a:xfrm>
        </p:spPr>
        <p:txBody>
          <a:bodyPr anchor="ctr">
            <a:normAutofit fontScale="85000" lnSpcReduction="20000"/>
          </a:bodyPr>
          <a:lstStyle/>
          <a:p>
            <a:pPr marL="0" indent="0">
              <a:buNone/>
            </a:pPr>
            <a:r>
              <a:rPr lang="es-ES" sz="3600" dirty="0"/>
              <a:t>Ejemplo:</a:t>
            </a:r>
          </a:p>
          <a:p>
            <a:pPr marL="0" indent="0">
              <a:buNone/>
            </a:pPr>
            <a:r>
              <a:rPr lang="es-ES" sz="3600" dirty="0"/>
              <a:t>El precio estándar del material A es $5/kg, y el precio real fue $6/kg.</a:t>
            </a:r>
            <a:br>
              <a:rPr lang="es-ES" sz="3600" dirty="0"/>
            </a:br>
            <a:r>
              <a:rPr lang="es-ES" sz="3600" dirty="0"/>
              <a:t>Se usaron 2,200 kg, aunque lo estándar eran 2,000 kg.</a:t>
            </a:r>
          </a:p>
          <a:p>
            <a:pPr marL="0" indent="0">
              <a:buNone/>
            </a:pPr>
            <a:br>
              <a:rPr lang="es-ES" sz="3600" dirty="0"/>
            </a:br>
            <a:r>
              <a:rPr lang="es-ES" sz="3600" dirty="0"/>
              <a:t>Variación total = (6 × 2,200) – (5 × 2,000) = 13,200 – 10,000</a:t>
            </a:r>
            <a:br>
              <a:rPr lang="es-ES" sz="3600" dirty="0"/>
            </a:br>
            <a:r>
              <a:rPr lang="es-ES" sz="3600" dirty="0"/>
              <a:t>Variación total = $3,200 desfavorable</a:t>
            </a:r>
          </a:p>
          <a:p>
            <a:pPr marL="0" indent="0">
              <a:buNone/>
            </a:pPr>
            <a:endParaRPr lang="es-ES" sz="3600" dirty="0"/>
          </a:p>
          <a:p>
            <a:pPr marL="0" indent="0" algn="ctr">
              <a:buNone/>
            </a:pPr>
            <a:r>
              <a:rPr lang="es-ES" sz="3600" dirty="0"/>
              <a:t>La empresa gastó $3,200 más de lo que debería según los estándares.</a:t>
            </a:r>
          </a:p>
        </p:txBody>
      </p:sp>
      <p:pic>
        <p:nvPicPr>
          <p:cNvPr id="5" name="Picture 8" descr="ADMISIÓN UNISON">
            <a:extLst>
              <a:ext uri="{FF2B5EF4-FFF2-40B4-BE49-F238E27FC236}">
                <a16:creationId xmlns:a16="http://schemas.microsoft.com/office/drawing/2014/main" id="{E0871D61-3B5A-344A-3838-08DF23822A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56375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164997-4868-5310-BA9A-A1F37A54587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C056CC3-7C8F-B0FC-6402-BC042B0F3F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DCC2E85-265D-1813-721C-68DDB80EBE5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0611BC27-08BC-CCD3-3F06-703F0D19A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9551F94-B308-6360-B8CC-8E7DB97657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BB3AB806-E73C-516C-D599-0DF527A27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F47B5B1-F753-EEF6-A4D2-7373EADC8842}"/>
              </a:ext>
            </a:extLst>
          </p:cNvPr>
          <p:cNvSpPr>
            <a:spLocks noGrp="1"/>
          </p:cNvSpPr>
          <p:nvPr>
            <p:ph idx="1"/>
          </p:nvPr>
        </p:nvSpPr>
        <p:spPr>
          <a:xfrm>
            <a:off x="1289304" y="1244010"/>
            <a:ext cx="9849751" cy="4691072"/>
          </a:xfrm>
        </p:spPr>
        <p:txBody>
          <a:bodyPr anchor="ctr">
            <a:normAutofit/>
          </a:bodyPr>
          <a:lstStyle/>
          <a:p>
            <a:pPr marL="0" indent="0" algn="ctr">
              <a:buNone/>
            </a:pPr>
            <a:r>
              <a:rPr lang="es-ES" sz="3600" dirty="0"/>
              <a:t>Las variaciones totales del presupuesto se pueden dividir en: </a:t>
            </a:r>
          </a:p>
          <a:p>
            <a:r>
              <a:rPr lang="es-ES" sz="3600" dirty="0"/>
              <a:t>Variaciones en precio </a:t>
            </a:r>
          </a:p>
          <a:p>
            <a:r>
              <a:rPr lang="es-ES" sz="3600" dirty="0"/>
              <a:t>Variaciones en consumo</a:t>
            </a:r>
          </a:p>
        </p:txBody>
      </p:sp>
      <p:pic>
        <p:nvPicPr>
          <p:cNvPr id="5" name="Picture 8" descr="ADMISIÓN UNISON">
            <a:extLst>
              <a:ext uri="{FF2B5EF4-FFF2-40B4-BE49-F238E27FC236}">
                <a16:creationId xmlns:a16="http://schemas.microsoft.com/office/drawing/2014/main" id="{73CA3E49-287B-4A45-0D8A-1D12FBEA73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91289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78960D-228F-3001-A2B4-34C1828073F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4A160EE-6703-94A6-9466-73141AB7D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712F7512-E4C9-E1B7-30E8-28DD56CA6E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1F74E28E-CEA8-1A8B-FE31-0E128E3F2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7E140BD-036C-9B77-C6BC-D9BA9B1A5E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4D691FC1-3C46-E629-2701-F7EC2874E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C14BE07-3309-A355-6E6B-BFA9178A89DD}"/>
              </a:ext>
            </a:extLst>
          </p:cNvPr>
          <p:cNvSpPr>
            <a:spLocks noGrp="1"/>
          </p:cNvSpPr>
          <p:nvPr>
            <p:ph idx="1"/>
          </p:nvPr>
        </p:nvSpPr>
        <p:spPr>
          <a:xfrm>
            <a:off x="1289304" y="1244010"/>
            <a:ext cx="9849751" cy="4691072"/>
          </a:xfrm>
        </p:spPr>
        <p:txBody>
          <a:bodyPr anchor="ctr">
            <a:normAutofit/>
          </a:bodyPr>
          <a:lstStyle/>
          <a:p>
            <a:pPr marL="0" indent="0" algn="ctr">
              <a:buNone/>
            </a:pPr>
            <a:r>
              <a:rPr lang="es-ES" sz="3600" dirty="0"/>
              <a:t>La variación en precio (en tasa) es la diferencia entre los precios unitarios reales y estándar de un insumo multiplicada por la cantidad de insumos real. </a:t>
            </a:r>
          </a:p>
        </p:txBody>
      </p:sp>
      <p:pic>
        <p:nvPicPr>
          <p:cNvPr id="5" name="Picture 8" descr="ADMISIÓN UNISON">
            <a:extLst>
              <a:ext uri="{FF2B5EF4-FFF2-40B4-BE49-F238E27FC236}">
                <a16:creationId xmlns:a16="http://schemas.microsoft.com/office/drawing/2014/main" id="{381FBBA9-A0C7-B739-93ED-B435A8978B8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92035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2B4DBE-EFD7-429D-1071-C069FAB15C8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4D0E412-C24C-84F1-9E58-8D87CDE94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AC8F12B-3AA9-D630-A0A1-4C79F27C59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617A94B3-D0EA-3A68-0563-4B87CDA090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3EC6A12-9303-E04F-8266-945D92BEE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48614564-0F3B-FF7E-3161-0AACAD292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FE4C96E-CC3B-5510-CA98-DA7091D1A6CD}"/>
              </a:ext>
            </a:extLst>
          </p:cNvPr>
          <p:cNvSpPr>
            <a:spLocks noGrp="1"/>
          </p:cNvSpPr>
          <p:nvPr>
            <p:ph idx="1"/>
          </p:nvPr>
        </p:nvSpPr>
        <p:spPr>
          <a:xfrm>
            <a:off x="1289304" y="1244010"/>
            <a:ext cx="9849751" cy="4691072"/>
          </a:xfrm>
        </p:spPr>
        <p:txBody>
          <a:bodyPr anchor="ctr">
            <a:normAutofit fontScale="92500"/>
          </a:bodyPr>
          <a:lstStyle/>
          <a:p>
            <a:pPr marL="0" indent="0">
              <a:buNone/>
            </a:pPr>
            <a:r>
              <a:rPr lang="es-ES" sz="3600" dirty="0"/>
              <a:t>Ejemplo:</a:t>
            </a:r>
          </a:p>
          <a:p>
            <a:pPr marL="0" indent="0">
              <a:buNone/>
            </a:pPr>
            <a:r>
              <a:rPr lang="es-ES" sz="3600" dirty="0"/>
              <a:t>Usando los datos anteriores:</a:t>
            </a:r>
            <a:br>
              <a:rPr lang="es-ES" sz="3600" dirty="0"/>
            </a:br>
            <a:r>
              <a:rPr lang="es-ES" sz="3600" dirty="0"/>
              <a:t>PR = $6/kg, PS = $5/kg, QR = 2,200 kg</a:t>
            </a:r>
          </a:p>
          <a:p>
            <a:pPr marL="0" indent="0">
              <a:buNone/>
            </a:pPr>
            <a:br>
              <a:rPr lang="es-ES" sz="3600" dirty="0"/>
            </a:br>
            <a:r>
              <a:rPr lang="es-ES" sz="3600" dirty="0"/>
              <a:t>VP = (6 – 5) × 2,200</a:t>
            </a:r>
            <a:br>
              <a:rPr lang="es-ES" sz="3600" dirty="0"/>
            </a:br>
            <a:r>
              <a:rPr lang="es-ES" sz="3600" dirty="0"/>
              <a:t>= 1 × 2,200</a:t>
            </a:r>
            <a:br>
              <a:rPr lang="es-ES" sz="3600" dirty="0"/>
            </a:br>
            <a:r>
              <a:rPr lang="es-ES" sz="3600" b="1" dirty="0"/>
              <a:t>VP = $2,200 desfavorable</a:t>
            </a:r>
            <a:endParaRPr lang="es-ES" sz="3600" dirty="0"/>
          </a:p>
          <a:p>
            <a:pPr marL="0" indent="0">
              <a:buNone/>
            </a:pPr>
            <a:endParaRPr lang="es-ES" sz="3600" dirty="0"/>
          </a:p>
          <a:p>
            <a:pPr marL="0" indent="0" algn="ctr">
              <a:buNone/>
            </a:pPr>
            <a:r>
              <a:rPr lang="es-ES" sz="3600" dirty="0"/>
              <a:t>El precio del material fue más alto que el estándar.</a:t>
            </a:r>
          </a:p>
        </p:txBody>
      </p:sp>
      <p:pic>
        <p:nvPicPr>
          <p:cNvPr id="5" name="Picture 8" descr="ADMISIÓN UNISON">
            <a:extLst>
              <a:ext uri="{FF2B5EF4-FFF2-40B4-BE49-F238E27FC236}">
                <a16:creationId xmlns:a16="http://schemas.microsoft.com/office/drawing/2014/main" id="{EF6F4289-3DBD-FA83-B4C4-F084FF0AD4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60293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985723-8305-BEFC-1283-8249E37DACE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4C9F42-8454-2720-FBF2-93CB6AF98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D4EACE4-BE45-2796-DDB9-857C7BA4BE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BEDBB0D1-42EF-070B-6227-0B31BF481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34D7CFC-EEB2-D548-F451-6C3383498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6C83587E-7B37-A625-261D-A5C3A0E717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F9CE822-701E-DEE3-1037-A93E3165AD98}"/>
              </a:ext>
            </a:extLst>
          </p:cNvPr>
          <p:cNvSpPr>
            <a:spLocks noGrp="1"/>
          </p:cNvSpPr>
          <p:nvPr>
            <p:ph idx="1"/>
          </p:nvPr>
        </p:nvSpPr>
        <p:spPr>
          <a:xfrm>
            <a:off x="1289304" y="1244010"/>
            <a:ext cx="9849751" cy="4691072"/>
          </a:xfrm>
        </p:spPr>
        <p:txBody>
          <a:bodyPr anchor="ctr">
            <a:normAutofit/>
          </a:bodyPr>
          <a:lstStyle/>
          <a:p>
            <a:pPr marL="0" indent="0" algn="ctr">
              <a:buNone/>
            </a:pPr>
            <a:r>
              <a:rPr lang="es-ES" sz="3600" dirty="0"/>
              <a:t>La variación en consumo (eficiencia) es la diferencia entre la cantidad real y la cantidad estándar de los insumos multiplicada por el precio unitario estándar del insumo. </a:t>
            </a:r>
          </a:p>
        </p:txBody>
      </p:sp>
      <p:pic>
        <p:nvPicPr>
          <p:cNvPr id="5" name="Picture 8" descr="ADMISIÓN UNISON">
            <a:extLst>
              <a:ext uri="{FF2B5EF4-FFF2-40B4-BE49-F238E27FC236}">
                <a16:creationId xmlns:a16="http://schemas.microsoft.com/office/drawing/2014/main" id="{0A5260C5-0D18-07CD-294B-11EFB9F6945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36694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3E5A9F-EFDC-4553-8FB2-1E33D65697A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409964F-0D73-5AA7-22CE-C213E696D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08F0CD32-578E-202A-3E45-F0E1CA81D2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01E2D51C-047A-4C19-AF3F-E668E8C47E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875AA6C-D586-DCB0-E760-E70AA1BBC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1F4CE787-61EA-8FC1-372D-F8C639AC9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6912339-3E59-C363-656F-E927738A3B49}"/>
              </a:ext>
            </a:extLst>
          </p:cNvPr>
          <p:cNvSpPr>
            <a:spLocks noGrp="1"/>
          </p:cNvSpPr>
          <p:nvPr>
            <p:ph idx="1"/>
          </p:nvPr>
        </p:nvSpPr>
        <p:spPr>
          <a:xfrm>
            <a:off x="1289304" y="1244010"/>
            <a:ext cx="9849751" cy="4691072"/>
          </a:xfrm>
        </p:spPr>
        <p:txBody>
          <a:bodyPr anchor="ctr">
            <a:normAutofit lnSpcReduction="10000"/>
          </a:bodyPr>
          <a:lstStyle/>
          <a:p>
            <a:pPr marL="0" indent="0">
              <a:buNone/>
            </a:pPr>
            <a:r>
              <a:rPr lang="es-ES" sz="3600" dirty="0"/>
              <a:t>Ejemplo:</a:t>
            </a:r>
          </a:p>
          <a:p>
            <a:pPr marL="0" indent="0">
              <a:buNone/>
            </a:pPr>
            <a:r>
              <a:rPr lang="es-ES" sz="3600" dirty="0"/>
              <a:t>QR = 2,200 kg, QS = 2,000 kg, PS = $5/kg</a:t>
            </a:r>
          </a:p>
          <a:p>
            <a:pPr marL="0" indent="0">
              <a:buNone/>
            </a:pPr>
            <a:br>
              <a:rPr lang="es-ES" sz="3600" dirty="0"/>
            </a:br>
            <a:r>
              <a:rPr lang="es-ES" sz="3600" dirty="0"/>
              <a:t>VC = (2,200 – 2,000) × 5</a:t>
            </a:r>
            <a:br>
              <a:rPr lang="es-ES" sz="3600" dirty="0"/>
            </a:br>
            <a:r>
              <a:rPr lang="es-ES" sz="3600" dirty="0"/>
              <a:t>= 200 × 5</a:t>
            </a:r>
            <a:br>
              <a:rPr lang="es-ES" sz="3600" dirty="0"/>
            </a:br>
            <a:r>
              <a:rPr lang="es-ES" sz="3600" b="1" dirty="0"/>
              <a:t>VC = $1,000 desfavorable</a:t>
            </a:r>
            <a:endParaRPr lang="es-ES" sz="3600" dirty="0"/>
          </a:p>
          <a:p>
            <a:pPr marL="0" indent="0">
              <a:buNone/>
            </a:pPr>
            <a:endParaRPr lang="es-ES" sz="3600" dirty="0"/>
          </a:p>
          <a:p>
            <a:pPr marL="0" indent="0" algn="ctr">
              <a:buNone/>
            </a:pPr>
            <a:r>
              <a:rPr lang="es-ES" sz="3600" dirty="0"/>
              <a:t>Se usaron 200 kg más de lo esperado, lo que encareció la producción</a:t>
            </a:r>
          </a:p>
        </p:txBody>
      </p:sp>
      <p:pic>
        <p:nvPicPr>
          <p:cNvPr id="5" name="Picture 8" descr="ADMISIÓN UNISON">
            <a:extLst>
              <a:ext uri="{FF2B5EF4-FFF2-40B4-BE49-F238E27FC236}">
                <a16:creationId xmlns:a16="http://schemas.microsoft.com/office/drawing/2014/main" id="{32FA50C8-7010-D667-1A48-A3BD625D1DD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6999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A76CAD-95F8-CA59-1BA5-002356C237A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66F47F1-A9AE-EDCE-3A2F-5FCCA59AEE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2461DE5-F456-7DDD-4C7D-0D79FB3EEE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C718202F-88D8-47EA-1F6A-86135DBD13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BF5D27D-F49F-BCF9-F3ED-9A486CC85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3918A5F8-7518-7E79-DD5D-FE02539A66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9A5D989-E740-4C91-AED7-0FED343077E9}"/>
              </a:ext>
            </a:extLst>
          </p:cNvPr>
          <p:cNvSpPr>
            <a:spLocks noGrp="1"/>
          </p:cNvSpPr>
          <p:nvPr>
            <p:ph idx="1"/>
          </p:nvPr>
        </p:nvSpPr>
        <p:spPr>
          <a:xfrm>
            <a:off x="1289304" y="1244010"/>
            <a:ext cx="9849751" cy="4691072"/>
          </a:xfrm>
        </p:spPr>
        <p:txBody>
          <a:bodyPr anchor="ctr">
            <a:normAutofit/>
          </a:bodyPr>
          <a:lstStyle/>
          <a:p>
            <a:pPr marL="0" indent="0" algn="ctr">
              <a:buNone/>
            </a:pPr>
            <a:r>
              <a:rPr lang="es-ES" sz="3600" dirty="0"/>
              <a:t>Una variación desfavorable (D) ocurre siempre que los precios reales o el consumo de los insumos sean mayores que los precios o el consumo estándar. Cuando ocurre lo opuesto, se obtiene una variación favorable (F).</a:t>
            </a:r>
          </a:p>
        </p:txBody>
      </p:sp>
      <p:pic>
        <p:nvPicPr>
          <p:cNvPr id="5" name="Picture 8" descr="ADMISIÓN UNISON">
            <a:extLst>
              <a:ext uri="{FF2B5EF4-FFF2-40B4-BE49-F238E27FC236}">
                <a16:creationId xmlns:a16="http://schemas.microsoft.com/office/drawing/2014/main" id="{455C95C5-5DDD-D58F-DB6A-25BA80883DD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09453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068E9C-26A2-7336-0C1C-AB9ED326004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A040502-441C-E4A5-0155-F75C2EDE8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33805BD-D064-C9A6-076A-B57629CD60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B22425B2-36E3-2EDF-46DE-3A2619FFA0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3100E6-B302-9A85-1FDE-5CD7F0843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98AC3D98-2F32-5831-3505-37ECE90FB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F335110-9315-33C1-862A-0E3B93506358}"/>
              </a:ext>
            </a:extLst>
          </p:cNvPr>
          <p:cNvSpPr>
            <a:spLocks noGrp="1"/>
          </p:cNvSpPr>
          <p:nvPr>
            <p:ph idx="1"/>
          </p:nvPr>
        </p:nvSpPr>
        <p:spPr>
          <a:xfrm>
            <a:off x="1289304" y="1244010"/>
            <a:ext cx="9849751" cy="4691072"/>
          </a:xfrm>
        </p:spPr>
        <p:txBody>
          <a:bodyPr anchor="ctr">
            <a:normAutofit/>
          </a:bodyPr>
          <a:lstStyle/>
          <a:p>
            <a:pPr marL="0" indent="0" algn="ctr">
              <a:buNone/>
            </a:pPr>
            <a:r>
              <a:rPr lang="es-ES" sz="3600" dirty="0"/>
              <a:t>La variación en el consumo de los materiales directos (VQMD) mide la diferencia entre los materiales directos realmente empleados y los materiales directos que deberían haberse utilizado para la producción real. </a:t>
            </a:r>
          </a:p>
        </p:txBody>
      </p:sp>
      <p:pic>
        <p:nvPicPr>
          <p:cNvPr id="5" name="Picture 8" descr="ADMISIÓN UNISON">
            <a:extLst>
              <a:ext uri="{FF2B5EF4-FFF2-40B4-BE49-F238E27FC236}">
                <a16:creationId xmlns:a16="http://schemas.microsoft.com/office/drawing/2014/main" id="{ADCBF85E-1D46-BED5-A5F1-981A3E2D37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13496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76FFC0-B995-E682-083F-4195FF01D46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88B4331-6CC9-6502-1BC3-55F9937156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7E2F0B25-49C2-DF13-89B1-BAD43FF33A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33BA19E9-2472-F635-637C-3F17F871A3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6BB01EC-6631-EBDE-289E-375668F34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7F197CC4-D053-6AEC-B2F2-FE2DC6002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BE67FF0-F7A4-4CD0-B272-14DA4281407A}"/>
              </a:ext>
            </a:extLst>
          </p:cNvPr>
          <p:cNvSpPr>
            <a:spLocks noGrp="1"/>
          </p:cNvSpPr>
          <p:nvPr>
            <p:ph idx="1"/>
          </p:nvPr>
        </p:nvSpPr>
        <p:spPr>
          <a:xfrm>
            <a:off x="1289304" y="1244010"/>
            <a:ext cx="9849751" cy="4691072"/>
          </a:xfrm>
        </p:spPr>
        <p:txBody>
          <a:bodyPr anchor="ctr">
            <a:normAutofit fontScale="77500" lnSpcReduction="20000"/>
          </a:bodyPr>
          <a:lstStyle/>
          <a:p>
            <a:pPr marL="0" indent="0" algn="ctr">
              <a:buNone/>
            </a:pPr>
            <a:r>
              <a:rPr lang="es-ES" sz="3600" dirty="0"/>
              <a:t>La fórmula para el cálculo de esta variación es:</a:t>
            </a:r>
          </a:p>
          <a:p>
            <a:pPr marL="0" indent="0" algn="ctr">
              <a:buNone/>
            </a:pPr>
            <a:r>
              <a:rPr lang="es-ES" sz="3600" dirty="0"/>
              <a:t>VQMD = (PS X QR) - (PS X QS)</a:t>
            </a:r>
          </a:p>
          <a:p>
            <a:pPr marL="0" indent="0" algn="ctr">
              <a:buNone/>
            </a:pPr>
            <a:endParaRPr lang="es-ES" sz="3600" dirty="0"/>
          </a:p>
          <a:p>
            <a:pPr marL="0" indent="0" algn="ctr">
              <a:buNone/>
            </a:pPr>
            <a:r>
              <a:rPr lang="es-ES" sz="3600" dirty="0"/>
              <a:t>O, al factorizar se obtiene:</a:t>
            </a:r>
          </a:p>
          <a:p>
            <a:pPr marL="0" indent="0" algn="ctr">
              <a:buNone/>
            </a:pPr>
            <a:r>
              <a:rPr lang="es-ES" sz="3600" dirty="0"/>
              <a:t>VQMD = (QR - QS)PS</a:t>
            </a:r>
          </a:p>
          <a:p>
            <a:pPr marL="0" indent="0" algn="ctr">
              <a:buNone/>
            </a:pPr>
            <a:endParaRPr lang="es-ES" sz="3600" dirty="0"/>
          </a:p>
          <a:p>
            <a:pPr marL="0" indent="0">
              <a:buNone/>
            </a:pPr>
            <a:r>
              <a:rPr lang="es-ES" sz="3600" dirty="0"/>
              <a:t>donde:</a:t>
            </a:r>
          </a:p>
          <a:p>
            <a:pPr marL="0" indent="0">
              <a:buNone/>
            </a:pPr>
            <a:r>
              <a:rPr lang="es-ES" sz="3600" dirty="0"/>
              <a:t>QR = Cantidad real de los materiales directos empleados</a:t>
            </a:r>
          </a:p>
          <a:p>
            <a:pPr marL="0" indent="0">
              <a:buNone/>
            </a:pPr>
            <a:r>
              <a:rPr lang="es-ES" sz="3600" dirty="0"/>
              <a:t>QS = Cantidad estándar de los materiales directos permitida para la producción real</a:t>
            </a:r>
          </a:p>
          <a:p>
            <a:pPr marL="0" indent="0">
              <a:buNone/>
            </a:pPr>
            <a:r>
              <a:rPr lang="es-ES" sz="3600" dirty="0"/>
              <a:t>PS = Precio estándar por unidad</a:t>
            </a:r>
          </a:p>
        </p:txBody>
      </p:sp>
      <p:pic>
        <p:nvPicPr>
          <p:cNvPr id="5" name="Picture 8" descr="ADMISIÓN UNISON">
            <a:extLst>
              <a:ext uri="{FF2B5EF4-FFF2-40B4-BE49-F238E27FC236}">
                <a16:creationId xmlns:a16="http://schemas.microsoft.com/office/drawing/2014/main" id="{441786D0-C09F-4A6C-5CC0-AB9C15D35C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0490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3D1EE6-145C-63A1-3C5F-25192DEE2A5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5857983-1D48-42C2-B15E-46C6E42A5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19BD4DA5-F1E2-F854-69FD-EB7656D6F2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FFE77E65-9F59-FB35-82E4-EB740D77A4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444E04B-9187-7DE5-306C-077F7897AC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0DF159F-87CC-9D10-67DB-3FED4751C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F47B348-97CF-A5D5-320D-72672E621CFE}"/>
              </a:ext>
            </a:extLst>
          </p:cNvPr>
          <p:cNvSpPr>
            <a:spLocks noGrp="1"/>
          </p:cNvSpPr>
          <p:nvPr>
            <p:ph idx="1"/>
          </p:nvPr>
        </p:nvSpPr>
        <p:spPr>
          <a:xfrm>
            <a:off x="1289304" y="1244010"/>
            <a:ext cx="9849751" cy="4691072"/>
          </a:xfrm>
        </p:spPr>
        <p:txBody>
          <a:bodyPr anchor="ctr">
            <a:normAutofit lnSpcReduction="10000"/>
          </a:bodyPr>
          <a:lstStyle/>
          <a:p>
            <a:pPr marL="0" indent="0">
              <a:buNone/>
            </a:pPr>
            <a:r>
              <a:rPr lang="es-ES" sz="3600" b="1" dirty="0"/>
              <a:t>Ejemplo:</a:t>
            </a:r>
            <a:br>
              <a:rPr lang="es-ES" sz="3600" dirty="0"/>
            </a:br>
            <a:r>
              <a:rPr lang="es-ES" sz="3600" dirty="0"/>
              <a:t>Si el material real usado fue de 2,200 kg, el estándar 2,000 kg y el precio estándar $5/kg:</a:t>
            </a:r>
          </a:p>
          <a:p>
            <a:pPr marL="0" indent="0" algn="ctr">
              <a:buNone/>
            </a:pPr>
            <a:br>
              <a:rPr lang="es-ES" sz="3600" dirty="0"/>
            </a:br>
            <a:r>
              <a:rPr lang="es-ES" sz="3600" dirty="0"/>
              <a:t>VQMD = (2,200 – 2,000) × 5</a:t>
            </a:r>
            <a:br>
              <a:rPr lang="es-ES" sz="3600" dirty="0"/>
            </a:br>
            <a:r>
              <a:rPr lang="es-ES" sz="3600" dirty="0"/>
              <a:t>= 200 × 5</a:t>
            </a:r>
            <a:br>
              <a:rPr lang="es-ES" sz="3600" dirty="0"/>
            </a:br>
            <a:r>
              <a:rPr lang="es-ES" sz="3600" dirty="0"/>
              <a:t>VQMD = $1,000 desfavorable</a:t>
            </a:r>
          </a:p>
          <a:p>
            <a:pPr marL="0" indent="0">
              <a:buNone/>
            </a:pPr>
            <a:endParaRPr lang="es-ES" sz="3600" dirty="0"/>
          </a:p>
          <a:p>
            <a:pPr marL="0" indent="0">
              <a:buNone/>
            </a:pPr>
            <a:r>
              <a:rPr lang="es-ES" sz="3600" dirty="0"/>
              <a:t>Indica un exceso en el uso de materiales.</a:t>
            </a:r>
          </a:p>
        </p:txBody>
      </p:sp>
      <p:pic>
        <p:nvPicPr>
          <p:cNvPr id="5" name="Picture 8" descr="ADMISIÓN UNISON">
            <a:extLst>
              <a:ext uri="{FF2B5EF4-FFF2-40B4-BE49-F238E27FC236}">
                <a16:creationId xmlns:a16="http://schemas.microsoft.com/office/drawing/2014/main" id="{8AC282A8-4371-1880-D110-CE18CE30B18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55283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47D2A1-CEA5-73F3-1624-4F99EDF2925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42465D1-4DC2-13D3-9DAA-297FAA1E9D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0A76A71A-B8C9-F55D-C284-506A8793FC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7AF0C2B7-1685-091D-E095-54EBC78BA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7399F2-C591-8B14-4470-AC3FE7E95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97B8DE8D-1D4F-ED1F-8035-09C9250FCB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631BE0C-2A3A-314E-C380-3F67291B744E}"/>
              </a:ext>
            </a:extLst>
          </p:cNvPr>
          <p:cNvSpPr>
            <a:spLocks noGrp="1"/>
          </p:cNvSpPr>
          <p:nvPr>
            <p:ph idx="1"/>
          </p:nvPr>
        </p:nvSpPr>
        <p:spPr>
          <a:xfrm>
            <a:off x="1289304" y="1244010"/>
            <a:ext cx="9849751" cy="4691072"/>
          </a:xfrm>
        </p:spPr>
        <p:txBody>
          <a:bodyPr anchor="ctr">
            <a:normAutofit/>
          </a:bodyPr>
          <a:lstStyle/>
          <a:p>
            <a:pPr marL="0" indent="0" algn="ctr">
              <a:buNone/>
            </a:pPr>
            <a:r>
              <a:rPr lang="es-ES" sz="3600" b="1" dirty="0"/>
              <a:t>Momento del cálculo de las variaciones en precio</a:t>
            </a:r>
          </a:p>
          <a:p>
            <a:pPr marL="0" indent="0" algn="just">
              <a:buNone/>
            </a:pPr>
            <a:r>
              <a:rPr lang="es-ES" sz="3600" dirty="0"/>
              <a:t>La variación en precio de los materiales directos se puede calcular en uno de dos puntos: </a:t>
            </a:r>
          </a:p>
          <a:p>
            <a:pPr marL="742950" indent="-742950" algn="just">
              <a:buAutoNum type="arabicParenBoth"/>
            </a:pPr>
            <a:r>
              <a:rPr lang="es-ES" sz="3600" dirty="0"/>
              <a:t>Cuando los materiales directos salen del almacén para usarse en producción </a:t>
            </a:r>
          </a:p>
          <a:p>
            <a:pPr marL="742950" indent="-742950" algn="just">
              <a:buAutoNum type="arabicParenBoth"/>
            </a:pPr>
            <a:r>
              <a:rPr lang="es-ES" sz="3600" dirty="0"/>
              <a:t>Cuando se compran</a:t>
            </a:r>
          </a:p>
        </p:txBody>
      </p:sp>
      <p:pic>
        <p:nvPicPr>
          <p:cNvPr id="5" name="Picture 8" descr="ADMISIÓN UNISON">
            <a:extLst>
              <a:ext uri="{FF2B5EF4-FFF2-40B4-BE49-F238E27FC236}">
                <a16:creationId xmlns:a16="http://schemas.microsoft.com/office/drawing/2014/main" id="{598B8B6E-9D7C-FFD2-DF16-BE40C6E7A2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07018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F886F0-C4A9-6335-A179-6AC443E109F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F8597A-12E1-596A-1DE9-D7694165CB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68A37F3-D62B-DC74-C9A7-3ECD42941F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3286F8C1-19C5-FDD7-B281-B31B8EF8A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37174F1-337A-012F-7301-67C1C42F24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934ADFDA-C949-AC26-A354-ED5413C718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0B38645-DBCF-BA7A-765C-348A98885A63}"/>
              </a:ext>
            </a:extLst>
          </p:cNvPr>
          <p:cNvSpPr>
            <a:spLocks noGrp="1"/>
          </p:cNvSpPr>
          <p:nvPr>
            <p:ph idx="1"/>
          </p:nvPr>
        </p:nvSpPr>
        <p:spPr>
          <a:xfrm>
            <a:off x="1289304" y="1244010"/>
            <a:ext cx="9849751" cy="4691072"/>
          </a:xfrm>
        </p:spPr>
        <p:txBody>
          <a:bodyPr anchor="ctr">
            <a:normAutofit/>
          </a:bodyPr>
          <a:lstStyle/>
          <a:p>
            <a:pPr marL="0" indent="0" algn="ctr">
              <a:buNone/>
            </a:pPr>
            <a:r>
              <a:rPr lang="es-ES" sz="3600" dirty="0"/>
              <a:t>El cálculo de la variación en precio en el momento de la compra es preferible. Es mejor tener información acerca de las variaciones más temprano que tarde.</a:t>
            </a:r>
          </a:p>
        </p:txBody>
      </p:sp>
      <p:pic>
        <p:nvPicPr>
          <p:cNvPr id="5" name="Picture 8" descr="ADMISIÓN UNISON">
            <a:extLst>
              <a:ext uri="{FF2B5EF4-FFF2-40B4-BE49-F238E27FC236}">
                <a16:creationId xmlns:a16="http://schemas.microsoft.com/office/drawing/2014/main" id="{E7A33717-BA1B-D28C-08FC-8E0CB445BAD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0299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E77C16-38EA-AEF5-CA61-74EABD52BD3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AF0133-0936-54ED-C5F1-2BA8A4176D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1E4F88E-6E3E-01DB-D6FB-4A6A736736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DDB53F8D-E84A-E687-721D-5AC58643B1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1C8CF75-C977-2D37-DEE8-2976DE053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26B1699-54E0-D37A-0AAE-54DC2A625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BC0D094-B9E8-6C6F-15FA-01C4882E03D1}"/>
              </a:ext>
            </a:extLst>
          </p:cNvPr>
          <p:cNvSpPr>
            <a:spLocks noGrp="1"/>
          </p:cNvSpPr>
          <p:nvPr>
            <p:ph idx="1"/>
          </p:nvPr>
        </p:nvSpPr>
        <p:spPr>
          <a:xfrm>
            <a:off x="1289304" y="1244010"/>
            <a:ext cx="9849751" cy="4691072"/>
          </a:xfrm>
        </p:spPr>
        <p:txBody>
          <a:bodyPr anchor="ctr">
            <a:normAutofit/>
          </a:bodyPr>
          <a:lstStyle/>
          <a:p>
            <a:pPr marL="0" indent="0" algn="ctr">
              <a:buNone/>
            </a:pPr>
            <a:r>
              <a:rPr lang="es-ES" sz="3600" dirty="0"/>
              <a:t>Como regla general, en un sistema de costeo estándar, todos los inventarios se llevan al precio estándar. Los costos reales nunca se registran en la cuenta de inventarios.</a:t>
            </a:r>
          </a:p>
        </p:txBody>
      </p:sp>
      <p:pic>
        <p:nvPicPr>
          <p:cNvPr id="5" name="Picture 8" descr="ADMISIÓN UNISON">
            <a:extLst>
              <a:ext uri="{FF2B5EF4-FFF2-40B4-BE49-F238E27FC236}">
                <a16:creationId xmlns:a16="http://schemas.microsoft.com/office/drawing/2014/main" id="{FF0C8FF2-B500-5EF5-C286-7CE5891D45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97442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3B84FB-F10A-DDBA-AF3B-37B04D414A3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C0B7D5D-3385-D062-37B2-E6D6142FA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340910D3-8319-22BE-5A5A-4730B55399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1647E994-B194-9034-05D6-E21D75CA69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D71161D-077A-CF47-DB15-2AD4968EF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05252799-F71F-9932-AE51-EC556AE16E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E37BA88-EA13-6723-C2C7-AA4BF3D99F4C}"/>
              </a:ext>
            </a:extLst>
          </p:cNvPr>
          <p:cNvSpPr>
            <a:spLocks noGrp="1"/>
          </p:cNvSpPr>
          <p:nvPr>
            <p:ph idx="1"/>
          </p:nvPr>
        </p:nvSpPr>
        <p:spPr>
          <a:xfrm>
            <a:off x="1289304" y="1244010"/>
            <a:ext cx="9849751" cy="4691072"/>
          </a:xfrm>
        </p:spPr>
        <p:txBody>
          <a:bodyPr anchor="ctr">
            <a:normAutofit fontScale="62500" lnSpcReduction="20000"/>
          </a:bodyPr>
          <a:lstStyle/>
          <a:p>
            <a:pPr marL="0" indent="0" algn="ctr">
              <a:buNone/>
            </a:pPr>
            <a:r>
              <a:rPr lang="es-ES" sz="3600" b="1" dirty="0"/>
              <a:t>Cálculo de las variaciones en la mano de obra directa </a:t>
            </a:r>
          </a:p>
          <a:p>
            <a:pPr marL="0" indent="0" algn="ctr">
              <a:buNone/>
            </a:pPr>
            <a:r>
              <a:rPr lang="es-ES" sz="3600" dirty="0"/>
              <a:t>La variación en tarifa de la mano de obra directa (VTMOD) calcula la diferencia entre lo que se les pagó a los trabajadores directos y lo que se les debería haber pagado:</a:t>
            </a:r>
          </a:p>
          <a:p>
            <a:pPr marL="0" indent="0" algn="ctr">
              <a:buNone/>
            </a:pPr>
            <a:r>
              <a:rPr lang="es-ES" sz="3600" dirty="0"/>
              <a:t>VTMOD = (TR X HR) – (TS X HR)</a:t>
            </a:r>
          </a:p>
          <a:p>
            <a:pPr marL="0" indent="0" algn="ctr">
              <a:buNone/>
            </a:pPr>
            <a:endParaRPr lang="es-ES" sz="3600" dirty="0"/>
          </a:p>
          <a:p>
            <a:pPr marL="0" indent="0" algn="ctr">
              <a:buNone/>
            </a:pPr>
            <a:r>
              <a:rPr lang="es-ES" sz="3600" dirty="0"/>
              <a:t>O, al factorizar, se obtiene:</a:t>
            </a:r>
          </a:p>
          <a:p>
            <a:pPr marL="0" indent="0" algn="ctr">
              <a:buNone/>
            </a:pPr>
            <a:r>
              <a:rPr lang="es-ES" sz="3600" dirty="0"/>
              <a:t>VTMOD = (TR – TS) HR</a:t>
            </a:r>
          </a:p>
          <a:p>
            <a:pPr marL="0" indent="0" algn="ctr">
              <a:buNone/>
            </a:pPr>
            <a:endParaRPr lang="es-ES" sz="3600" dirty="0"/>
          </a:p>
          <a:p>
            <a:pPr marL="0" indent="0">
              <a:buNone/>
            </a:pPr>
            <a:r>
              <a:rPr lang="es-ES" sz="3600" dirty="0"/>
              <a:t>Donde:</a:t>
            </a:r>
          </a:p>
          <a:p>
            <a:pPr marL="0" indent="0">
              <a:buNone/>
            </a:pPr>
            <a:r>
              <a:rPr lang="es-ES" sz="3600" dirty="0"/>
              <a:t>TR = Tarifa real de salario por hora</a:t>
            </a:r>
          </a:p>
          <a:p>
            <a:pPr marL="0" indent="0">
              <a:buNone/>
            </a:pPr>
            <a:r>
              <a:rPr lang="es-ES" sz="3600" dirty="0"/>
              <a:t>TS = Tarifa estándar de salario por hora</a:t>
            </a:r>
          </a:p>
          <a:p>
            <a:pPr marL="0" indent="0">
              <a:buNone/>
            </a:pPr>
            <a:r>
              <a:rPr lang="es-ES" sz="3600" dirty="0"/>
              <a:t>HR = Horas reales de mano de obra directa empleadas</a:t>
            </a:r>
          </a:p>
        </p:txBody>
      </p:sp>
      <p:pic>
        <p:nvPicPr>
          <p:cNvPr id="5" name="Picture 8" descr="ADMISIÓN UNISON">
            <a:extLst>
              <a:ext uri="{FF2B5EF4-FFF2-40B4-BE49-F238E27FC236}">
                <a16:creationId xmlns:a16="http://schemas.microsoft.com/office/drawing/2014/main" id="{5EF6A188-6287-EC6D-5E77-2BDDCAFF40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6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08E486-39C1-8A6A-D55F-26439704ACD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AA544F2-1EB9-6051-1CC6-156B90F12C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FD0EB37-5ADC-300D-F101-5212BFE179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9AC47ACB-93F2-F90E-C816-32CB11A3A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0EE6A75-2597-71AC-477C-FADABA5405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80B909A1-4A57-9DDA-2BA3-BF1B4605DF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AC54F7F-9083-8BAE-627F-2B6693E659ED}"/>
              </a:ext>
            </a:extLst>
          </p:cNvPr>
          <p:cNvSpPr>
            <a:spLocks noGrp="1"/>
          </p:cNvSpPr>
          <p:nvPr>
            <p:ph idx="1"/>
          </p:nvPr>
        </p:nvSpPr>
        <p:spPr>
          <a:xfrm>
            <a:off x="1289304" y="1244010"/>
            <a:ext cx="9849751" cy="4691072"/>
          </a:xfrm>
        </p:spPr>
        <p:txBody>
          <a:bodyPr anchor="ctr">
            <a:normAutofit fontScale="62500" lnSpcReduction="20000"/>
          </a:bodyPr>
          <a:lstStyle/>
          <a:p>
            <a:pPr marL="0" indent="0" algn="ctr">
              <a:buNone/>
            </a:pPr>
            <a:r>
              <a:rPr lang="es-ES" sz="3600" dirty="0"/>
              <a:t>La variación en eficiencia de la mano de obra directa (VEMOD) mide la diferencia entre las horas de la mano de obra directa que se emplearon en realidad y las horas de la mano de obra directa que deberían haberse empleado:</a:t>
            </a:r>
          </a:p>
          <a:p>
            <a:pPr marL="0" indent="0" algn="ctr">
              <a:buNone/>
            </a:pPr>
            <a:r>
              <a:rPr lang="es-ES" sz="3600" dirty="0"/>
              <a:t>VEMOD = (HR X TS) - (HS X TS)</a:t>
            </a:r>
          </a:p>
          <a:p>
            <a:pPr marL="0" indent="0" algn="ctr">
              <a:buNone/>
            </a:pPr>
            <a:endParaRPr lang="es-ES" sz="3600" dirty="0"/>
          </a:p>
          <a:p>
            <a:pPr marL="0" indent="0" algn="ctr">
              <a:buNone/>
            </a:pPr>
            <a:r>
              <a:rPr lang="es-ES" sz="3600" dirty="0"/>
              <a:t>O, al factorizar, se obtiene:</a:t>
            </a:r>
          </a:p>
          <a:p>
            <a:pPr marL="0" indent="0" algn="ctr">
              <a:buNone/>
            </a:pPr>
            <a:r>
              <a:rPr lang="es-ES" sz="3600" dirty="0"/>
              <a:t>VEMOD = (HR - HS) TS</a:t>
            </a:r>
          </a:p>
          <a:p>
            <a:pPr marL="0" indent="0">
              <a:buNone/>
            </a:pPr>
            <a:endParaRPr lang="es-ES" sz="3600" dirty="0"/>
          </a:p>
          <a:p>
            <a:pPr marL="0" indent="0">
              <a:buNone/>
            </a:pPr>
            <a:r>
              <a:rPr lang="es-ES" sz="3600" dirty="0"/>
              <a:t>Donde:</a:t>
            </a:r>
          </a:p>
          <a:p>
            <a:pPr marL="0" indent="0">
              <a:buNone/>
            </a:pPr>
            <a:r>
              <a:rPr lang="es-ES" sz="3600" dirty="0"/>
              <a:t>HR = Horas reales de mano de obra directa empleadas</a:t>
            </a:r>
          </a:p>
          <a:p>
            <a:pPr marL="0" indent="0">
              <a:buNone/>
            </a:pPr>
            <a:r>
              <a:rPr lang="es-ES" sz="3600" dirty="0"/>
              <a:t>HS = Horas estándar de mano de obra directa que deberían haberse empleado</a:t>
            </a:r>
          </a:p>
          <a:p>
            <a:pPr marL="0" indent="0">
              <a:buNone/>
            </a:pPr>
            <a:r>
              <a:rPr lang="es-ES" sz="3600" dirty="0"/>
              <a:t>TS = Tarifa salarial estándar por hora.</a:t>
            </a:r>
          </a:p>
        </p:txBody>
      </p:sp>
      <p:pic>
        <p:nvPicPr>
          <p:cNvPr id="5" name="Picture 8" descr="ADMISIÓN UNISON">
            <a:extLst>
              <a:ext uri="{FF2B5EF4-FFF2-40B4-BE49-F238E27FC236}">
                <a16:creationId xmlns:a16="http://schemas.microsoft.com/office/drawing/2014/main" id="{247CC5F6-3E13-28E3-DBA8-1891BFA4BA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13"/>
          <a:stretch/>
        </p:blipFill>
        <p:spPr bwMode="auto">
          <a:xfrm>
            <a:off x="10744647" y="5099225"/>
            <a:ext cx="917122" cy="120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162680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5CBEAE9CA348D438CBD2E965E3595C4" ma:contentTypeVersion="10" ma:contentTypeDescription="Crear nuevo documento." ma:contentTypeScope="" ma:versionID="ddd4580dd1bff1ab1d8dd2c6dcdef882">
  <xsd:schema xmlns:xsd="http://www.w3.org/2001/XMLSchema" xmlns:xs="http://www.w3.org/2001/XMLSchema" xmlns:p="http://schemas.microsoft.com/office/2006/metadata/properties" xmlns:ns2="556eb01e-0b58-4cbd-bb7c-4c5b4ac2bea5" xmlns:ns3="cbcc161c-56ca-4835-beea-523c5253f646" targetNamespace="http://schemas.microsoft.com/office/2006/metadata/properties" ma:root="true" ma:fieldsID="cb0493ceac85fe835dc21c22f97aa021" ns2:_="" ns3:_="">
    <xsd:import namespace="556eb01e-0b58-4cbd-bb7c-4c5b4ac2bea5"/>
    <xsd:import namespace="cbcc161c-56ca-4835-beea-523c5253f64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6eb01e-0b58-4cbd-bb7c-4c5b4ac2b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2b063932-f173-4154-82f3-97ca89cdde14"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bcc161c-56ca-4835-beea-523c5253f64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ae218e4-5e67-4cda-b36a-63c4385de9d6}" ma:internalName="TaxCatchAll" ma:showField="CatchAllData" ma:web="cbcc161c-56ca-4835-beea-523c5253f64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bcc161c-56ca-4835-beea-523c5253f646" xsi:nil="true"/>
    <lcf76f155ced4ddcb4097134ff3c332f xmlns="556eb01e-0b58-4cbd-bb7c-4c5b4ac2bea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D78861D-342A-4357-A1A9-37BA8AF9AFDD}"/>
</file>

<file path=customXml/itemProps2.xml><?xml version="1.0" encoding="utf-8"?>
<ds:datastoreItem xmlns:ds="http://schemas.openxmlformats.org/officeDocument/2006/customXml" ds:itemID="{55D8FD1B-D0E2-4269-B9D5-1A0F3330CFAC}"/>
</file>

<file path=customXml/itemProps3.xml><?xml version="1.0" encoding="utf-8"?>
<ds:datastoreItem xmlns:ds="http://schemas.openxmlformats.org/officeDocument/2006/customXml" ds:itemID="{8A194BD5-9E30-4FF6-B9EF-A99F27CF52B9}"/>
</file>

<file path=docProps/app.xml><?xml version="1.0" encoding="utf-8"?>
<Properties xmlns="http://schemas.openxmlformats.org/officeDocument/2006/extended-properties" xmlns:vt="http://schemas.openxmlformats.org/officeDocument/2006/docPropsVTypes">
  <TotalTime>360</TotalTime>
  <Words>1691</Words>
  <Application>Microsoft Office PowerPoint</Application>
  <PresentationFormat>Panorámica</PresentationFormat>
  <Paragraphs>131</Paragraphs>
  <Slides>43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43</vt:i4>
      </vt:variant>
    </vt:vector>
  </HeadingPairs>
  <TitlesOfParts>
    <vt:vector size="47" baseType="lpstr">
      <vt:lpstr>Aptos</vt:lpstr>
      <vt:lpstr>Aptos Display</vt:lpstr>
      <vt:lpstr>Arial</vt:lpstr>
      <vt:lpstr>Tema de Office</vt:lpstr>
      <vt:lpstr>Sistemas de Costeo</vt:lpstr>
      <vt:lpstr>Costo Estándar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Hojas de costo estándar</vt:lpstr>
      <vt:lpstr>Presentación de PowerPoint</vt:lpstr>
      <vt:lpstr>Presentación de PowerPoint</vt:lpstr>
      <vt:lpstr>Presentación de PowerPoint</vt:lpstr>
      <vt:lpstr>Presentación de PowerPoint</vt:lpstr>
      <vt:lpstr>Presentación de PowerPoint</vt:lpstr>
      <vt:lpstr>Análisis de variaciones y contabilidad: materiales directos y mano de obra directa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EDNA MARIA FRANCO BOJORQUEZ</dc:creator>
  <cp:lastModifiedBy>EDNA MARIA FRANCO BOJORQUEZ</cp:lastModifiedBy>
  <cp:revision>20</cp:revision>
  <dcterms:created xsi:type="dcterms:W3CDTF">2024-10-31T15:16:30Z</dcterms:created>
  <dcterms:modified xsi:type="dcterms:W3CDTF">2025-11-06T22:46:47Z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0x01010045CBEAE9CA348D438CBD2E965E3595C4</vt:lpwstr>
  </property>
</Properties>
</file>